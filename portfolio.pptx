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e67c3db12b54dfe" Type="http://schemas.openxmlformats.org/package/2006/relationships/metadata/core-properties" Target="docProps/core.xml"/><Relationship Id="R3e57e9ff0ab9469c" Type="http://schemas.openxmlformats.org/officeDocument/2006/relationships/extended-properties" Target="docProps/app.xml"/><Relationship Id="Re3b6e05f00894208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b0d7837a50eb4ffa"/>
  </p:sldMasterIdLst>
  <p:sldIdLst>
    <p:sldId id="256" r:id="R2f641141b38b406e"/>
    <p:sldId id="257" r:id="R93de37ef9421436e"/>
    <p:sldId id="263" r:id="R1b9d71eda6704e36"/>
    <p:sldId id="267" r:id="rIdSolOpsFull"/>
    <p:sldId id="265" r:id="Ra042a6bc64bd42d0"/>
    <p:sldId id="258" r:id="R9b219e7c32b54c68"/>
    <p:sldId id="259" r:id="Rfba9577c051245f4"/>
    <p:sldId id="260" r:id="R403f17b7f67a41b1"/>
    <p:sldId id="262" r:id="R8c32005e97b94ea3"/>
    <p:sldId id="266" r:id="R205eb58cb29c44c9"/>
  </p:sldIdLst>
  <p:sldSz cx="12191999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1b9d71eda6704e36" Type="http://schemas.openxmlformats.org/officeDocument/2006/relationships/slide" Target="slides/slide3.xml"/><Relationship Id="R205eb58cb29c44c9" Type="http://schemas.openxmlformats.org/officeDocument/2006/relationships/slide" Target="slides/slide10.xml"/><Relationship Id="R2f641141b38b406e" Type="http://schemas.openxmlformats.org/officeDocument/2006/relationships/slide" Target="slides/slide1.xml"/><Relationship Id="R403f17b7f67a41b1" Type="http://schemas.openxmlformats.org/officeDocument/2006/relationships/slide" Target="slides/slide8.xml"/><Relationship Id="R61690d80326340ef" Type="http://schemas.openxmlformats.org/officeDocument/2006/relationships/tableStyles" Target="tableStyles.xml"/><Relationship Id="R7e7b6da3cc3c4a20" Type="http://schemas.openxmlformats.org/officeDocument/2006/relationships/theme" Target="theme/theme1.xml"/><Relationship Id="R8c32005e97b94ea3" Type="http://schemas.openxmlformats.org/officeDocument/2006/relationships/slide" Target="slides/slide9.xml"/><Relationship Id="R8d2a5aa6d7134373" Type="http://schemas.openxmlformats.org/officeDocument/2006/relationships/viewProps" Target="viewProps.xml"/><Relationship Id="R93de37ef9421436e" Type="http://schemas.openxmlformats.org/officeDocument/2006/relationships/slide" Target="slides/slide2.xml"/><Relationship Id="R9b219e7c32b54c68" Type="http://schemas.openxmlformats.org/officeDocument/2006/relationships/slide" Target="slides/slide6.xml"/><Relationship Id="Ra042a6bc64bd42d0" Type="http://schemas.openxmlformats.org/officeDocument/2006/relationships/slide" Target="slides/slide5.xml"/><Relationship Id="Rb0d7837a50eb4ffa" Type="http://schemas.openxmlformats.org/officeDocument/2006/relationships/slideMaster" Target="slideMasters/slideMaster1.xml"/><Relationship Id="Rd38361642dad4f71" Type="http://schemas.openxmlformats.org/officeDocument/2006/relationships/presProps" Target="presProps.xml"/><Relationship Id="Rfba9577c051245f4" Type="http://schemas.openxmlformats.org/officeDocument/2006/relationships/slide" Target="slides/slide7.xml"/><Relationship Id="rIdSolOpsFull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2bf0fa3387474a83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5a11105518ca4a1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2523d07484c4dfe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ee0e6f66fbc24b5d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0764e4eaee6446b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ea67e4357b2452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f916cb22e701448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e41055ab52954abc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a8ab0b09d8c0463d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c8060619d18c4ded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0c760ac04347495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80D5EB-C7E2-4653-B54A-60FB3F63379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BD5BC3D-BABA-4ECF-8F27-EE6D4C3D96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0BF182-B8BF-431E-8521-0F0EE7FBFB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D7C997-BADA-430B-A339-69F1A1BE6A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C7A615-D367-41FB-9F74-FB09B6ED9D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FE693E-312D-4D3D-8094-1AA5DE751C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96C5F2-A715-4D98-881F-215BAFC156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94A334-12E9-47E9-B48C-F36034AA02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7A13E9-CC7F-4366-9C0C-D22EBDBA4C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E9EBEA-E1A4-4014-AEAF-8A63CF4E84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81F66B-E7F0-4311-B6A5-DF89707E1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28AF27-4032-47C3-8F39-9EC4BE34CB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65A840-D4E2-484D-B17C-A938CA8485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B7A81E-841F-4FD6-B1B6-05371E7748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8F717D-49A0-4451-BFCA-BA7998006A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45DB1D-B2E0-416D-90FC-9D580EDA0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D98FA6-C732-4B47-BD02-4234E774F3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FD12E9-CCC5-4D82-9A7A-D8E03F9D510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8208047-934E-4E2A-B1EF-52867EF1CD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5955964-E697-4F37-A26F-315DF804BA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3197B08-9102-4CF9-8FB4-0820A1FC73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5AB9CE-5543-4911-B69F-362EA1EB9A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3FF27F-5D0D-4BDA-AC03-DCFE36E03C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8B2D6F-FD9D-435B-9017-27D2E30FCDF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89A7D37-AA32-47CF-B9DD-0852036A728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5521B17-0608-4906-850D-CDAC2C2F61B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E42ADA7-3444-4E82-A393-B6985E31CD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4B7177D-DFB2-4E79-9F04-2E12DF454F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5A93177-342E-4D65-915D-BF2564ABB9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2E06ED-D17A-4D96-A62E-D1C20E983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9FC0CE4-85EC-4CF8-9E28-68EBBDCFCD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F1E0EEF-0214-4B97-B258-F77A3A8788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573EFCE-FA4E-4AA7-9AB9-D7505BBA9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A2CA2F8-82D0-4DD6-A1A5-F56E424C2C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9EA4194-D640-48E4-A6B0-5E3E2BA431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0792959-0069-41C9-8524-2F8C142A9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B3534C-CEBA-4558-BB10-B442BAFA9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279CF2-DC0F-48B9-B8D7-7CBF77E347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52C404F-3BE7-43C8-A23F-6C9F7197AC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EBF8607-0E0C-491E-BB83-42D96CA0DE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F1C73F-001F-43F8-B60D-D16745483A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30255A9-8EFA-4946-BBBD-3A4B4D402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0F33-FE1F-4CC4-BB12-10B375631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C0432F7-B132-4724-BE65-05F789FF11A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174EBBF-D21E-4795-AFBF-93C2B2CEE5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DBE4186-1588-4B64-BB9B-95BE6AAF37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6977ECB-67C3-457B-91F5-B18EF66E91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81FFBD-CE3A-4058-B097-9AA6FF9D5F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DBBD73-2F37-416C-BD08-914A639EF7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978699-8B1E-4CC2-89E0-48324506B9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A582EF-0F0B-4E62-8CB6-3282F073B6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07CFBD-B7FF-4CA9-8739-2C1FF1F7DE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1E83FA-970E-4371-8FAB-4999BE2346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C22892B-C4CA-45AB-98FA-8B2D2F86E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F7D2F8-DB07-4104-8064-8270E67BAD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49A27C-460C-4F5B-91B7-C489C3FF99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89801D-B81D-4038-8027-FB10A99067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CD8150-8619-4819-B51D-9FE3B6F10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bd3320ee4e74e6d" Type="http://schemas.openxmlformats.org/officeDocument/2006/relationships/slideLayout" Target="../slideLayouts/slideLayout7.xml"/><Relationship Id="R20d966457b584d20" Type="http://schemas.openxmlformats.org/officeDocument/2006/relationships/slideLayout" Target="../slideLayouts/slideLayout9.xml"/><Relationship Id="R2986efa8cfdb4958" Type="http://schemas.openxmlformats.org/officeDocument/2006/relationships/slideLayout" Target="../slideLayouts/slideLayout10.xml"/><Relationship Id="R2ad06777e5964283" Type="http://schemas.openxmlformats.org/officeDocument/2006/relationships/slideLayout" Target="../slideLayouts/slideLayout2.xml"/><Relationship Id="R2d2b572f59d84c63" Type="http://schemas.openxmlformats.org/officeDocument/2006/relationships/slideLayout" Target="../slideLayouts/slideLayout11.xml"/><Relationship Id="R54213a94a84847c9" Type="http://schemas.openxmlformats.org/officeDocument/2006/relationships/slideLayout" Target="../slideLayouts/slideLayout8.xml"/><Relationship Id="R6354b8565f7b4626" Type="http://schemas.openxmlformats.org/officeDocument/2006/relationships/slideLayout" Target="../slideLayouts/slideLayout1.xml"/><Relationship Id="R6a38d3b8f4e04f90" Type="http://schemas.openxmlformats.org/officeDocument/2006/relationships/slideLayout" Target="../slideLayouts/slideLayout4.xml"/><Relationship Id="R771faff2bd8a46ba" Type="http://schemas.openxmlformats.org/officeDocument/2006/relationships/slideLayout" Target="../slideLayouts/slideLayout6.xml"/><Relationship Id="Rbd19a2a156384ddb" Type="http://schemas.openxmlformats.org/officeDocument/2006/relationships/slideLayout" Target="../slideLayouts/slideLayout3.xml"/><Relationship Id="Rcc31574e420541ae" Type="http://schemas.openxmlformats.org/officeDocument/2006/relationships/theme" Target="theme/theme2.xml"/><Relationship Id="Rd40eae388e2b4259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EC1F88-A9D8-49D0-A439-A76ED66F9C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570B51-5993-415F-9E30-363D068B13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D9E9B4-3F37-4D44-A0DA-8E52B3E6E4A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CEFEEE-A314-455C-83C8-9C933B0E7EE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EF389E-A1D3-4CA1-9682-CE554CB4054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54b8565f7b4626"/>
    <p:sldLayoutId xmlns:r="http://schemas.openxmlformats.org/officeDocument/2006/relationships" id="2147483650" r:id="R2ad06777e5964283"/>
    <p:sldLayoutId xmlns:r="http://schemas.openxmlformats.org/officeDocument/2006/relationships" id="2147483651" r:id="Rbd19a2a156384ddb"/>
    <p:sldLayoutId xmlns:r="http://schemas.openxmlformats.org/officeDocument/2006/relationships" id="2147483652" r:id="R6a38d3b8f4e04f90"/>
    <p:sldLayoutId xmlns:r="http://schemas.openxmlformats.org/officeDocument/2006/relationships" id="2147483653" r:id="Rd40eae388e2b4259"/>
    <p:sldLayoutId xmlns:r="http://schemas.openxmlformats.org/officeDocument/2006/relationships" id="2147483654" r:id="R771faff2bd8a46ba"/>
    <p:sldLayoutId xmlns:r="http://schemas.openxmlformats.org/officeDocument/2006/relationships" id="2147483655" r:id="R1bd3320ee4e74e6d"/>
    <p:sldLayoutId xmlns:r="http://schemas.openxmlformats.org/officeDocument/2006/relationships" id="2147483656" r:id="R54213a94a84847c9"/>
    <p:sldLayoutId xmlns:r="http://schemas.openxmlformats.org/officeDocument/2006/relationships" id="2147483657" r:id="R20d966457b584d20"/>
    <p:sldLayoutId xmlns:r="http://schemas.openxmlformats.org/officeDocument/2006/relationships" id="2147483658" r:id="R2986efa8cfdb4958"/>
    <p:sldLayoutId xmlns:r="http://schemas.openxmlformats.org/officeDocument/2006/relationships" id="2147483659" r:id="R2d2b572f59d84c6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32144658ac94430" Type="http://schemas.openxmlformats.org/officeDocument/2006/relationships/image" Target="../media/image.jpeg"/><Relationship Id="Rc06914f9caa744cb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9349ed89c4b44e64" Type="http://schemas.openxmlformats.org/officeDocument/2006/relationships/slideLayout" Target="../slideLayouts/slideLayout7.xml"/></Relationships>
</file>

<file path=ppt/slides/_rels/slide3.xml.rels><?xml version='1.0' encoding='utf-8'?>
<ns0:Relationships xmlns:ns0="http://schemas.openxmlformats.org/package/2006/relationships"><ns0:Relationship Id="Ree10d51f642942c3" Type="http://schemas.openxmlformats.org/officeDocument/2006/relationships/slideLayout" Target="../slideLayouts/slideLayout7.xml" /></ns0:Relationships>
</file>

<file path=ppt/slides/_rels/slide4.xml.rels><?xml version='1.0' encoding='utf-8'?>
<ns0:Relationships xmlns:ns0="http://schemas.openxmlformats.org/package/2006/relationships"><ns0:Relationship Id="R2d7b08f839d54a93" Type="http://schemas.openxmlformats.org/officeDocument/2006/relationships/slideLayout" Target="../slideLayouts/slideLayout7.xml" /></ns0:Relationships>
</file>

<file path=ppt/slides/_rels/slide5.xml.rels><?xml version='1.0' encoding='utf-8'?>
<ns0:Relationships xmlns:ns0="http://schemas.openxmlformats.org/package/2006/relationships"><ns0:Relationship Id="R2d7b08f839d54a93" Type="http://schemas.openxmlformats.org/officeDocument/2006/relationships/slideLayout" Target="../slideLayouts/slideLayout7.xml" /></ns0:Relationships>
</file>

<file path=ppt/slides/_rels/slide6.xml.rels><?xml version='1.0' encoding='utf-8'?>
<ns0:Relationships xmlns:ns0="http://schemas.openxmlformats.org/package/2006/relationships"><ns0:Relationship Id="R258be216b5794c9d" Type="http://schemas.openxmlformats.org/officeDocument/2006/relationships/slideLayout" Target="../slideLayouts/slideLayout7.xml" /></ns0:Relationships>
</file>

<file path=ppt/slides/_rels/slide7.xml.rels><?xml version='1.0' encoding='utf-8'?>
<ns0:Relationships xmlns:ns0="http://schemas.openxmlformats.org/package/2006/relationships"><ns0:Relationship Id="R5150656673484b43" Type="http://schemas.openxmlformats.org/officeDocument/2006/relationships/slideLayout" Target="../slideLayouts/slideLayout7.xml" /></ns0:Relationships>
</file>

<file path=ppt/slides/_rels/slide8.xml.rels><?xml version='1.0' encoding='utf-8'?>
<ns0:Relationships xmlns:ns0="http://schemas.openxmlformats.org/package/2006/relationships"><ns0:Relationship Id="Rb1f7c32bbdff431d" Type="http://schemas.openxmlformats.org/officeDocument/2006/relationships/slideLayout" Target="../slideLayouts/slideLayout7.xml" /></ns0:Relationships>
</file>

<file path=ppt/slides/_rels/slide9.xml.rels><?xml version='1.0' encoding='utf-8'?>
<ns0:Relationships xmlns:ns0="http://schemas.openxmlformats.org/package/2006/relationships"><ns0:Relationship Id="R2670c56427cc4363" Type="http://schemas.openxmlformats.org/officeDocument/2006/relationships/slideLayout" Target="../slideLayouts/slideLayout7.xml" /></ns0:Relationships>
</file>

<file path=ppt/slides/_rels/slide10.xml.rels><?xml version='1.0' encoding='UTF-8' standalone='yes'?>
<Relationships xmlns="http://schemas.openxmlformats.org/package/2006/relationships"><Relationship Id="R5c339c92619a44cc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1F8A1687-BA78-4B01-AC6E-89F8DB9EA5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>
            <a:extLst>
              <a:ext uri="{FF2B5EF4-FFF2-40B4-BE49-F238E27FC236}">
                <ns2:creationId id="{6158BDF1-FDB0-4439-B26C-CDFB426F1F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>
            <a:extLst>
              <a:ext uri="{FF2B5EF4-FFF2-40B4-BE49-F238E27FC236}">
                <ns2:creationId id="{63FBF811-E997-4316-8E3A-348FA0322514}"/>
              </a:ext>
            </a:extLst>
          </p:cNvPr>
          <p:cNvSpPr>
            <a:spLocks noGrp="1"/>
          </p:cNvSpPr>
          <p:nvPr/>
        </p:nvSpPr>
        <p:spPr>
          <a:xfrm>
            <a:off x="749808" y="65836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현대오토에버 Server Engineer 지원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D66F95A7-D117-4E37-B680-CCB6564AE0CD}"/>
              </a:ext>
            </a:extLst>
          </p:cNvPr>
          <p:cNvSpPr>
            <a:spLocks noGrp="1"/>
          </p:cNvSpPr>
          <p:nvPr/>
        </p:nvSpPr>
        <p:spPr>
          <a:xfrm>
            <a:off x="749808" y="1563624"/>
            <a:ext cx="73152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박지운</a:t>
            </a:r>
          </a:p>
        </p:txBody>
      </p:sp>
      <p:sp>
        <p:nvSpPr>
          <p:cNvPr id="6" name="TextBox 5">
            <a:extLst>
              <a:ext uri="{FF2B5EF4-FFF2-40B4-BE49-F238E27FC236}">
                <ns2:creationId id="{A9DC9082-37D4-40EB-8051-9CCB3AD8BF9D}"/>
              </a:ext>
            </a:extLst>
          </p:cNvPr>
          <p:cNvSpPr>
            <a:spLocks noGrp="1"/>
          </p:cNvSpPr>
          <p:nvPr/>
        </p:nvSpPr>
        <p:spPr>
          <a:xfrm>
            <a:off x="749808" y="2459736"/>
            <a:ext cx="80467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경력 및 프로젝트 포트폴리오</a:t>
            </a:r>
          </a:p>
        </p:txBody>
      </p:sp>
      <p:sp>
        <p:nvSpPr>
          <p:cNvPr id="7" name="TextBox 6">
            <a:extLst>
              <a:ext uri="{FF2B5EF4-FFF2-40B4-BE49-F238E27FC236}">
                <ns2:creationId id="{A7E73A97-275E-4DB6-9FF3-785F16524893}"/>
              </a:ext>
            </a:extLst>
          </p:cNvPr>
          <p:cNvSpPr>
            <a:spLocks noGrp="1"/>
          </p:cNvSpPr>
          <p:nvPr/>
        </p:nvSpPr>
        <p:spPr>
          <a:xfrm>
            <a:off x="749808" y="3520440"/>
            <a:ext cx="795528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금융권 AI 솔루션 운영과 서버 관리를 맡고 있습니다.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반복되는 수작업과 번거로운 확인 절차를 줄이는 방법을 찾고 구현합니다.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36BC80B6-46BC-42DC-A30F-D687DE933F5E}"/>
              </a:ext>
            </a:extLst>
          </p:cNvPr>
          <p:cNvSpPr>
            <a:spLocks noGrp="1"/>
          </p:cNvSpPr>
          <p:nvPr/>
        </p:nvSpPr>
        <p:spPr>
          <a:xfrm>
            <a:off x="749808" y="4800600"/>
            <a:ext cx="7726679" cy="10972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>
            <a:extLst>
              <a:ext uri="{FF2B5EF4-FFF2-40B4-BE49-F238E27FC236}">
                <ns2:creationId id="{B2BB55A9-D9A8-4E57-8CFE-67635F8BBC06}"/>
              </a:ext>
            </a:extLst>
          </p:cNvPr>
          <p:cNvSpPr>
            <a:spLocks noGrp="1"/>
          </p:cNvSpPr>
          <p:nvPr/>
        </p:nvSpPr>
        <p:spPr>
          <a:xfrm>
            <a:off x="749808" y="5202936"/>
            <a:ext cx="731520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gourderased@gmail.com</a:t>
            </a:r>
          </a:p>
        </p:txBody>
      </p:sp>
      <p:sp>
        <p:nvSpPr>
          <p:cNvPr id="10" name="TextBox 9">
            <a:extLst>
              <a:ext uri="{FF2B5EF4-FFF2-40B4-BE49-F238E27FC236}">
                <ns2:creationId id="{FB6C7596-8A7F-4967-BC88-FA340A843641}"/>
              </a:ext>
            </a:extLst>
          </p:cNvPr>
          <p:cNvSpPr>
            <a:spLocks noGrp="1"/>
          </p:cNvSpPr>
          <p:nvPr/>
        </p:nvSpPr>
        <p:spPr>
          <a:xfrm>
            <a:off x="749808" y="5650992"/>
            <a:ext cx="731520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2C3E50"/>
                </a:solidFill>
                <a:latin typeface="Apple SD Gothic Neo"/>
              </a:rPr>
              <a:t/>
            </a:r>
          </a:p>
        </p:txBody>
      </p:sp>
      <p:sp>
        <p:nvSpPr>
          <p:cNvPr id="11" name="Rectangle 10">
            <a:extLst>
              <a:ext uri="{FF2B5EF4-FFF2-40B4-BE49-F238E27FC236}">
                <ns2:creationId id="{F5513640-8239-4E8C-B29E-E73109796BD9}"/>
              </a:ext>
            </a:extLst>
          </p:cNvPr>
          <p:cNvSpPr>
            <a:spLocks noGrp="1"/>
          </p:cNvSpPr>
          <p:nvPr/>
        </p:nvSpPr>
        <p:spPr>
          <a:xfrm>
            <a:off x="9217152" y="1572768"/>
            <a:ext cx="2221992" cy="2962656"/>
          </a:xfrm>
          <a:prstGeom prst="rect">
            <a:avLst/>
          </a:prstGeom>
          <a:solidFill>
            <a:srgbClr val="F3F5F7"/>
          </a:solidFill>
          <a:ln w="825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>
            <a:extLst>
              <a:ext uri="{FF2B5EF4-FFF2-40B4-BE49-F238E27FC236}">
                <ns2:creationId id="{0978F3A5-3B6E-4CF1-B40C-E37D5BF5B52F}"/>
              </a:ext>
            </a:extLst>
          </p:cNvPr>
          <p:cNvSpPr>
            <a:spLocks noGrp="1"/>
          </p:cNvSpPr>
          <p:nvPr/>
        </p:nvSpPr>
        <p:spPr>
          <a:xfrm>
            <a:off x="9217152" y="5897880"/>
            <a:ext cx="22219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2026.10</a:t>
            </a:r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 r:embed="R432144658ac94430"/>
          <a:stretch/>
        </p:blipFill>
        <p:spPr>
          <a:xfrm>
            <a:off x="9217152" y="1572768"/>
            <a:ext cx="2221992" cy="2962656"/>
          </a:xfrm>
          <a:prstGeom prst="rect">
            <a:avLst/>
          </a:prstGeom>
        </p:spPr>
      </p:pic>
    </p:spTree>
    <p:extLst>
      <p:ext uri="{BB962C8B-B14F-4D97-AF65-F5344CB8AC3E}">
        <ns4:creationId val="120214927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BBBF3EFF-6A7D-496C-A2EE-A6DABD2D50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>
            <a:extLst>
              <a:ext uri="{FF2B5EF4-FFF2-40B4-BE49-F238E27FC236}">
                <ns2:creationId id="{9B75902B-8636-43A7-B4BD-648CEA4431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>
            <a:extLst>
              <a:ext uri="{FF2B5EF4-FFF2-40B4-BE49-F238E27FC236}">
                <ns2:creationId id="{E1977539-2CF1-452E-9987-E91E3BF61DD0}"/>
              </a:ext>
            </a:extLst>
          </p:cNvPr>
          <p:cNvSpPr>
            <a:spLocks noGrp="1"/>
          </p:cNvSpPr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경력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FE66B032-6EE4-4605-A2F3-1555252ADF3C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1099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경력과 주요 업무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679E7AA1-3FD0-46EB-90C4-15F3CB6CF4CF}"/>
              </a:ext>
            </a:extLst>
          </p:cNvPr>
          <p:cNvSpPr>
            <a:spLocks noGrp="1"/>
          </p:cNvSpPr>
          <p:nvPr/>
        </p:nvSpPr>
        <p:spPr>
          <a:xfrm>
            <a:off x="502920" y="1499616"/>
            <a:ext cx="11155680" cy="10973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>
            <a:extLst>
              <a:ext uri="{FF2B5EF4-FFF2-40B4-BE49-F238E27FC236}">
                <ns2:creationId id="{6AF9F460-0F3F-411F-AA33-4FAE59A3AB5C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박지운 | 현대오토에버 Server Engineer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6A80EAFB-A185-4E23-A752-E9C448DDD44A}"/>
              </a:ext>
            </a:extLst>
          </p:cNvPr>
          <p:cNvSpPr>
            <a:spLocks noGrp="1"/>
          </p:cNvSpPr>
          <p:nvPr/>
        </p:nvSpPr>
        <p:spPr>
          <a:xfrm>
            <a:off x="11100816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02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02920" y="1773936"/>
            <a:ext cx="7269480" cy="4553712"/>
          </a:xfrm>
          <a:prstGeom prst="rect"/>
          <a:ln>
            <a:noFill/>
          </a:ln>
          <a:solidFill>
            <a:srgbClr val="F1FAF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037576" y="1773936"/>
            <a:ext cx="3611880" cy="4553712"/>
          </a:xfrm>
          <a:prstGeom prst="rect"/>
          <a:ln>
            <a:noFill/>
          </a:ln>
          <a:solidFill>
            <a:srgbClr val="F3F5F7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22376" y="1947672"/>
            <a:ext cx="6830568" cy="34747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21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마음에이아이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22376" y="2432304"/>
            <a:ext cx="6830568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2025.08 ~ 현재 / 솔루션운영팀 매니저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22376" y="2834640"/>
            <a:ext cx="6830568" cy="32004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금융권 AI상담센터 솔루션 운영과 유지보수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22376" y="3346704"/>
            <a:ext cx="6830568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주요 고객사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22376" y="3730752"/>
            <a:ext cx="6830568" cy="5212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2C3E50"/>
                </a:solidFill>
                <a:latin typeface="Apple SD Gothic Neo"/>
              </a:rPr>
              <a:t>금융권 고객사 대상 AI 상담센터 솔루션 운영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22376" y="4489704"/>
            <a:ext cx="6830568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주요 업무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22376" y="4892040"/>
            <a:ext cx="3236976" cy="27432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EoS 업그레이드 사전 검증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22376" y="5276088"/>
            <a:ext cx="3236976" cy="923544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RHEL 7.9 → 8.10 변경 전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Docker 환경과 STT 기능 확인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폐쇄망 패키지와 작업 계획서 준비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야간 전환 작업 원격 참여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315968" y="4892040"/>
            <a:ext cx="3236976" cy="27432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서버와 AI 솔루션 운영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4315968" y="5276088"/>
            <a:ext cx="3236976" cy="923544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Linux 서버와 Docker 컨테이너 점검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로그 분석, GPU 드라이버 호환성 확인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STT 모델 교체와 서비스 응답 점검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고객 요청에 따른 설정 변경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57032" y="1947672"/>
            <a:ext cx="3172968" cy="34747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21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한국하니웰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57032" y="2432304"/>
            <a:ext cx="3172968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2025.01 ~ 2025.06 / DV팀 인턴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257032" y="2834640"/>
            <a:ext cx="3172968" cy="32004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가스검지기 소프트웨어 검증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257032" y="3346704"/>
            <a:ext cx="3172968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주요 업무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257032" y="3803904"/>
            <a:ext cx="3172968" cy="27432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테스트 로그 확인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57032" y="4187952"/>
            <a:ext cx="3172968" cy="5212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Modbus 응답 로그 확인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기기별 테스트 결과 정리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257032" y="4892040"/>
            <a:ext cx="3172968" cy="27432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테스트 결과 수집과 시각화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257032" y="5276088"/>
            <a:ext cx="3172968" cy="923544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Python 로그 파싱과 결과 추출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Spring Boot API로 결과 수집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MySQL에 테스트 결과 저장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Grafana 대시보드에서 결과 조회</a:t>
            </a:r>
          </a:p>
        </p:txBody>
      </p:sp>
    </p:spTree>
    <p:extLst>
      <p:ext uri="{BB962C8B-B14F-4D97-AF65-F5344CB8AC3E}">
        <ns3:creationId val="1283008709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9926F9E2-A5EC-431E-8CD4-F09914A67C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>
            <a:extLst>
              <a:ext uri="{FF2B5EF4-FFF2-40B4-BE49-F238E27FC236}">
                <ns2:creationId id="{E7BF783A-B9BD-40C3-A8A1-202EDE7A75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>
            <a:extLst>
              <a:ext uri="{FF2B5EF4-FFF2-40B4-BE49-F238E27FC236}">
                <ns2:creationId id="{47171491-025F-4530-AFD7-B01542413782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사내 서버 AI 검색 도구, SolOps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D5EF50C4-A5F6-4E9E-8B15-0A64AAAA59E8}"/>
              </a:ext>
            </a:extLst>
          </p:cNvPr>
          <p:cNvSpPr>
            <a:spLocks noGrp="1"/>
          </p:cNvSpPr>
          <p:nvPr/>
        </p:nvSpPr>
        <p:spPr>
          <a:xfrm>
            <a:off x="502920" y="1499616"/>
            <a:ext cx="11155680" cy="10972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>
            <a:extLst>
              <a:ext uri="{FF2B5EF4-FFF2-40B4-BE49-F238E27FC236}">
                <ns2:creationId id="{5D8A7FAA-EE2F-4671-9C29-8AD3DE358D5B}"/>
              </a:ext>
            </a:extLst>
          </p:cNvPr>
          <p:cNvSpPr>
            <a:spLocks noGrp="1"/>
          </p:cNvSpPr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박지운 | 현대오토에버 Server Engineer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512E0C14-0F32-4F04-A44F-30C5208A843A}"/>
              </a:ext>
            </a:extLst>
          </p:cNvPr>
          <p:cNvSpPr>
            <a:spLocks noGrp="1"/>
          </p:cNvSpPr>
          <p:nvPr/>
        </p:nvSpPr>
        <p:spPr>
          <a:xfrm>
            <a:off x="11100816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03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128016" y="0"/>
            <a:ext cx="12063984" cy="640080"/>
          </a:xfrm>
          <a:prstGeom prst="rect"/>
          <a:ln>
            <a:noFill/>
          </a:ln>
          <a:solidFill>
            <a:srgbClr val="1472C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39" name="Text 39"/>
          <p:cNvSpPr txBox="1"/>
          <p:nvPr/>
        </p:nvSpPr>
        <p:spPr>
          <a:xfrm>
            <a:off x="502920" y="173736"/>
            <a:ext cx="8961120" cy="356616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프로젝트 01 | SolOps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0049256" y="228600"/>
            <a:ext cx="1600200" cy="25603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개요 1/3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502920" y="1773936"/>
            <a:ext cx="914400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기간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1645920" y="1773936"/>
            <a:ext cx="5029200" cy="34747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9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2026.08 ~ 2026.10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02920" y="2377440"/>
            <a:ext cx="6675120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역할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502920" y="2743200"/>
            <a:ext cx="6720840" cy="64008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8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검색 기준과 사내 실행 방식 설계</a:t>
            </a:r>
          </a:p>
          <a:p>
            <a:pPr>
              <a:lnSpc>
                <a:spcPct val="115000"/>
              </a:lnSpc>
              <a:buNone/>
              <a:defRPr sz="18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Codex로 화면과 API 구현, 조회 결과 검증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502920" y="3584448"/>
            <a:ext cx="6675120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문제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502920" y="3950208"/>
            <a:ext cx="6720840" cy="64008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8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테스트할 서버를 찾으려면 사내 서버에 하나씩 SSH로 접속해</a:t>
            </a:r>
          </a:p>
          <a:p>
            <a:pPr>
              <a:lnSpc>
                <a:spcPct val="115000"/>
              </a:lnSpc>
              <a:buNone/>
              <a:defRPr sz="18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조건에 맞는지 직접 확인해야 했습니다.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502920" y="4983480"/>
            <a:ext cx="6675120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사내 실행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502920" y="5376672"/>
            <a:ext cx="6720840" cy="64008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외부 AI API 없이 사내 서버에서 처리합니다.</a:t>
            </a:r>
          </a:p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백엔드와 Ollama는 systemd, DB와 Nginx는 Docker로 실행합니다.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7726680" y="1773936"/>
            <a:ext cx="3886200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검색 구조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7726680" y="2212848"/>
            <a:ext cx="3886200" cy="557784"/>
          </a:xfrm>
          <a:prstGeom prst="rect"/>
          <a:ln>
            <a:noFill/>
          </a:ln>
          <a:solidFill>
            <a:srgbClr val="F1FAF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51" name="Text 51"/>
          <p:cNvSpPr txBox="1"/>
          <p:nvPr/>
        </p:nvSpPr>
        <p:spPr>
          <a:xfrm>
            <a:off x="7872984" y="2359152"/>
            <a:ext cx="1188720" cy="24688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웹 질문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9180576" y="2368296"/>
            <a:ext cx="2194560" cy="237744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React / Next.js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9601200" y="2779776"/>
            <a:ext cx="274320" cy="18288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1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↓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7726680" y="2898648"/>
            <a:ext cx="3886200" cy="557784"/>
          </a:xfrm>
          <a:prstGeom prst="rect"/>
          <a:ln>
            <a:noFill/>
          </a:ln>
          <a:solidFill>
            <a:srgbClr val="F1FAF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55" name="Text 55"/>
          <p:cNvSpPr txBox="1"/>
          <p:nvPr/>
        </p:nvSpPr>
        <p:spPr>
          <a:xfrm>
            <a:off x="7872984" y="3044952"/>
            <a:ext cx="1188720" cy="24688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조건 해석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9180576" y="3054096"/>
            <a:ext cx="2194560" cy="237744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Ollama / Qwen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9601200" y="3465576"/>
            <a:ext cx="274320" cy="18288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1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↓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7726680" y="3584448"/>
            <a:ext cx="3886200" cy="557784"/>
          </a:xfrm>
          <a:prstGeom prst="rect"/>
          <a:ln>
            <a:noFill/>
          </a:ln>
          <a:solidFill>
            <a:srgbClr val="F1FAF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59" name="Text 59"/>
          <p:cNvSpPr txBox="1"/>
          <p:nvPr/>
        </p:nvSpPr>
        <p:spPr>
          <a:xfrm>
            <a:off x="7872984" y="3730752"/>
            <a:ext cx="1188720" cy="24688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조건 검증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9180576" y="3739896"/>
            <a:ext cx="2194560" cy="237744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FastAPI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9601200" y="4151376"/>
            <a:ext cx="274320" cy="18288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1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↓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7726680" y="4270248"/>
            <a:ext cx="3886200" cy="557784"/>
          </a:xfrm>
          <a:prstGeom prst="rect"/>
          <a:ln>
            <a:noFill/>
          </a:ln>
          <a:solidFill>
            <a:srgbClr val="F1FAF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63" name="Text 63"/>
          <p:cNvSpPr txBox="1"/>
          <p:nvPr/>
        </p:nvSpPr>
        <p:spPr>
          <a:xfrm>
            <a:off x="7872984" y="4416552"/>
            <a:ext cx="1188720" cy="24688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DB 조회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9180576" y="4425696"/>
            <a:ext cx="2194560" cy="237744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PostgreSQL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9601200" y="4837176"/>
            <a:ext cx="274320" cy="18288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1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↓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7726680" y="4956048"/>
            <a:ext cx="3886200" cy="557784"/>
          </a:xfrm>
          <a:prstGeom prst="rect"/>
          <a:ln>
            <a:noFill/>
          </a:ln>
          <a:solidFill>
            <a:srgbClr val="F1FAF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67" name="Text 67"/>
          <p:cNvSpPr txBox="1"/>
          <p:nvPr/>
        </p:nvSpPr>
        <p:spPr>
          <a:xfrm>
            <a:off x="7872984" y="5102352"/>
            <a:ext cx="1188720" cy="24688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결과 표시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9180576" y="5111496"/>
            <a:ext cx="2194560" cy="237744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조회 결과 요약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7726680" y="5815584"/>
            <a:ext cx="3886200" cy="512064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AI는 질문을 검색 조건으로 해석합니다.</a:t>
            </a:r>
          </a:p>
          <a:p>
            <a:pPr>
              <a:lnSpc>
                <a:spcPct val="115000"/>
              </a:lnSpc>
              <a:buNone/>
              <a:defRPr sz="15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백엔드가 조건을 검증한 뒤 DB를 조회합니다.</a:t>
            </a:r>
          </a:p>
        </p:txBody>
      </p:sp>
    </p:spTree>
    <p:extLst>
      <p:ext uri="{BB962C8B-B14F-4D97-AF65-F5344CB8AC3E}">
        <ns3:creationId val="1256245060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6FEFEB2-E001-4B29-94AF-ACEC025BF7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>
            <a:extLst>
              <a:ext uri="{FF2B5EF4-FFF2-40B4-BE49-F238E27FC236}">
                <ns2:creationId id="{5D4C5720-DAAF-4A54-A3C2-AB2DB6E37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>
            <a:extLst>
              <a:ext uri="{FF2B5EF4-FFF2-40B4-BE49-F238E27FC236}">
                <ns2:creationId id="{76146113-BCBC-4A7B-B574-CF22DCCCA9B5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프로젝트 01 | SolOps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DC1CD8BD-70B9-4EFC-B49C-1BC347864A36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SolOps 전체 화면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92DBC1E2-C5AD-45E9-AEAD-BDA9ADF785A3}"/>
              </a:ext>
            </a:extLst>
          </p:cNvPr>
          <p:cNvSpPr>
            <a:spLocks noGrp="1"/>
          </p:cNvSpPr>
          <p:nvPr/>
        </p:nvSpPr>
        <p:spPr>
          <a:xfrm>
            <a:off x="502920" y="1499616"/>
            <a:ext cx="11155680" cy="10972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>
            <a:extLst>
              <a:ext uri="{FF2B5EF4-FFF2-40B4-BE49-F238E27FC236}">
                <ns2:creationId id="{D489F3DB-42AB-48AF-A55A-41A8E3DAC80B}"/>
              </a:ext>
            </a:extLst>
          </p:cNvPr>
          <p:cNvSpPr>
            <a:spLocks noGrp="1"/>
          </p:cNvSpPr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박지운 | 현대오토에버 Server Engineer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D47DD0F1-9CA5-4489-9215-9EBD700048F0}"/>
              </a:ext>
            </a:extLst>
          </p:cNvPr>
          <p:cNvSpPr>
            <a:spLocks noGrp="1"/>
          </p:cNvSpPr>
          <p:nvPr/>
        </p:nvSpPr>
        <p:spPr>
          <a:xfrm>
            <a:off x="11100816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04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10049256" y="310896"/>
            <a:ext cx="1600200" cy="25603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전체 화면 2/3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04749" y="1719072"/>
            <a:ext cx="9352021" cy="4526280"/>
          </a:xfrm>
          <a:prstGeom prst="roundRect">
            <a:avLst/>
          </a:prstGeom>
          <a:solidFill>
            <a:srgbClr val="EEF3F8"/>
          </a:solidFill>
          <a:ln>
            <a:solidFill>
              <a:srgbClr val="5F7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bIns="152400"/>
          <a:lstStyle/>
          <a:p>
            <a:pPr algn="ctr"/>
            <a:r>
              <a:rPr sz="1600" b="1">
                <a:solidFill>
                  <a:srgbClr val="26425C"/>
                </a:solidFill>
                <a:latin typeface="Apple SD Gothic Neo"/>
              </a:rPr>
              <a:t>개념 화면 요약</a:t>
            </a:r>
          </a:p>
          <a:p>
            <a:pPr algn="ctr"/>
            <a:r>
              <a:rPr sz="1100">
                <a:solidFill>
                  <a:srgbClr val="4A5C6C"/>
                </a:solidFill>
                <a:latin typeface="Apple SD Gothic Neo"/>
              </a:rPr>
              <a:t>질문 입력 → 조건 해석 → 후보 목록 → 상세 요약
실제 운영 화면과 식별 정보는 공개용에서 제외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91999" y="120000"/>
            <a:ext cx="1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887"/>
                </a:solidFill>
                <a:latin typeface="Apple SD Gothic Neo"/>
              </a:rPr>
              <a:t>공개용 비식별화 개념도</a:t>
            </a:r>
          </a:p>
        </p:txBody>
      </p:sp>
    </p:spTree>
    <p:extLst>
      <p:ext uri="{BB962C8B-B14F-4D97-AF65-F5344CB8AC3E}">
        <ns4:creationId val="1257112958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6FEFEB2-E001-4B29-94AF-ACEC025BF7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>
            <a:extLst>
              <a:ext uri="{FF2B5EF4-FFF2-40B4-BE49-F238E27FC236}">
                <ns2:creationId id="{5D4C5720-DAAF-4A54-A3C2-AB2DB6E37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>
            <a:extLst>
              <a:ext uri="{FF2B5EF4-FFF2-40B4-BE49-F238E27FC236}">
                <ns2:creationId id="{76146113-BCBC-4A7B-B574-CF22DCCCA9B5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프로젝트 01 | SolOps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DC1CD8BD-70B9-4EFC-B49C-1BC347864A36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사용 화면과 성과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92DBC1E2-C5AD-45E9-AEAD-BDA9ADF785A3}"/>
              </a:ext>
            </a:extLst>
          </p:cNvPr>
          <p:cNvSpPr>
            <a:spLocks noGrp="1"/>
          </p:cNvSpPr>
          <p:nvPr/>
        </p:nvSpPr>
        <p:spPr>
          <a:xfrm>
            <a:off x="502920" y="1499616"/>
            <a:ext cx="11155680" cy="10972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>
            <a:extLst>
              <a:ext uri="{FF2B5EF4-FFF2-40B4-BE49-F238E27FC236}">
                <ns2:creationId id="{D489F3DB-42AB-48AF-A55A-41A8E3DAC80B}"/>
              </a:ext>
            </a:extLst>
          </p:cNvPr>
          <p:cNvSpPr>
            <a:spLocks noGrp="1"/>
          </p:cNvSpPr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박지운 | 현대오토에버 Server Engineer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D47DD0F1-9CA5-4489-9215-9EBD700048F0}"/>
              </a:ext>
            </a:extLst>
          </p:cNvPr>
          <p:cNvSpPr>
            <a:spLocks noGrp="1"/>
          </p:cNvSpPr>
          <p:nvPr/>
        </p:nvSpPr>
        <p:spPr>
          <a:xfrm>
            <a:off x="11100816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05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10049256" y="310896"/>
            <a:ext cx="1600200" cy="25603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사용과 성과 3/3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502920" y="1773936"/>
            <a:ext cx="5349240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사용 전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502920" y="2157984"/>
            <a:ext cx="5349240" cy="34747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8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SSH로 접속해 GPU, 지원 CUDA 버전, OS 직접 대조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6300216" y="1773936"/>
            <a:ext cx="5349240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사용 후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6300216" y="2157984"/>
            <a:ext cx="5349240" cy="34747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8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문장 입력으로 테스트 서버 후보 조회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502920" y="2770632"/>
            <a:ext cx="3401568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자연어 질문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502920" y="3182112"/>
            <a:ext cx="3401568" cy="1956816"/>
          </a:xfrm>
          <a:prstGeom prst="rect"/>
          <a:ln>
            <a:noFill/>
          </a:ln>
          <a:solidFill>
            <a:srgbClr val="F3F5F7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71" name="Text 71"/>
          <p:cNvSpPr txBox="1"/>
          <p:nvPr/>
        </p:nvSpPr>
        <p:spPr>
          <a:xfrm>
            <a:off x="4379976" y="2770632"/>
            <a:ext cx="3401568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검색 결과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4379976" y="3182112"/>
            <a:ext cx="3401568" cy="1956816"/>
          </a:xfrm>
          <a:prstGeom prst="rect"/>
          <a:ln>
            <a:noFill/>
          </a:ln>
          <a:solidFill>
            <a:srgbClr val="F3F5F7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73" name="Text 73"/>
          <p:cNvSpPr txBox="1"/>
          <p:nvPr/>
        </p:nvSpPr>
        <p:spPr>
          <a:xfrm>
            <a:off x="8257032" y="2770632"/>
            <a:ext cx="3401568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서버 상세 화면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8257032" y="3182112"/>
            <a:ext cx="3401568" cy="1956816"/>
          </a:xfrm>
          <a:prstGeom prst="rect"/>
          <a:ln>
            <a:noFill/>
          </a:ln>
          <a:solidFill>
            <a:srgbClr val="F3F5F7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75" name="Text 75"/>
          <p:cNvSpPr txBox="1"/>
          <p:nvPr/>
        </p:nvSpPr>
        <p:spPr>
          <a:xfrm>
            <a:off x="502920" y="5513832"/>
            <a:ext cx="11155680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성과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502920" y="5879592"/>
            <a:ext cx="11155680" cy="50292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서버별 SSH 접속 없이 테스트 서버 후보를 한 번에 조회하도록 바꿨습니다.</a:t>
            </a:r>
          </a:p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팀원들이 반복하던 접속과 사양 확인 작업을 줄였습니다.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3392545"/>
            <a:ext cx="3401568" cy="1535950"/>
          </a:xfrm>
          <a:prstGeom prst="roundRect">
            <a:avLst/>
          </a:prstGeom>
          <a:solidFill>
            <a:srgbClr val="EEF3F8"/>
          </a:solidFill>
          <a:ln>
            <a:solidFill>
              <a:srgbClr val="5F7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bIns="152400"/>
          <a:lstStyle/>
          <a:p>
            <a:pPr algn="ctr"/>
            <a:r>
              <a:rPr sz="1600" b="1">
                <a:solidFill>
                  <a:srgbClr val="26425C"/>
                </a:solidFill>
                <a:latin typeface="Apple SD Gothic Neo"/>
              </a:rPr>
              <a:t>개념도: 자연어 질문</a:t>
            </a:r>
          </a:p>
          <a:p>
            <a:pPr algn="ctr"/>
            <a:r>
              <a:rPr sz="1100">
                <a:solidFill>
                  <a:srgbClr val="4A5C6C"/>
                </a:solidFill>
                <a:latin typeface="Apple SD Gothic Neo"/>
              </a:rPr>
              <a:t>조건을 문장으로 입력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54546" y="3182112"/>
            <a:ext cx="2652428" cy="1956816"/>
          </a:xfrm>
          <a:prstGeom prst="roundRect">
            <a:avLst/>
          </a:prstGeom>
          <a:solidFill>
            <a:srgbClr val="EEF3F8"/>
          </a:solidFill>
          <a:ln>
            <a:solidFill>
              <a:srgbClr val="5F7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bIns="152400"/>
          <a:lstStyle/>
          <a:p>
            <a:pPr algn="ctr"/>
            <a:r>
              <a:rPr sz="1600" b="1">
                <a:solidFill>
                  <a:srgbClr val="26425C"/>
                </a:solidFill>
                <a:latin typeface="Apple SD Gothic Neo"/>
              </a:rPr>
              <a:t>개념도: 검색 결과</a:t>
            </a:r>
          </a:p>
          <a:p>
            <a:pPr algn="ctr"/>
            <a:r>
              <a:rPr sz="1100">
                <a:solidFill>
                  <a:srgbClr val="4A5C6C"/>
                </a:solidFill>
                <a:latin typeface="Apple SD Gothic Neo"/>
              </a:rPr>
              <a:t>조건에 맞는 후보를 요약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57032" y="3196639"/>
            <a:ext cx="3401568" cy="1927763"/>
          </a:xfrm>
          <a:prstGeom prst="roundRect">
            <a:avLst/>
          </a:prstGeom>
          <a:solidFill>
            <a:srgbClr val="EEF3F8"/>
          </a:solidFill>
          <a:ln>
            <a:solidFill>
              <a:srgbClr val="5F7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bIns="152400"/>
          <a:lstStyle/>
          <a:p>
            <a:pPr algn="ctr"/>
            <a:r>
              <a:rPr sz="1600" b="1">
                <a:solidFill>
                  <a:srgbClr val="26425C"/>
                </a:solidFill>
                <a:latin typeface="Apple SD Gothic Neo"/>
              </a:rPr>
              <a:t>개념도: 서버 상세</a:t>
            </a:r>
          </a:p>
          <a:p>
            <a:pPr algn="ctr"/>
            <a:r>
              <a:rPr sz="1100">
                <a:solidFill>
                  <a:srgbClr val="4A5C6C"/>
                </a:solidFill>
                <a:latin typeface="Apple SD Gothic Neo"/>
              </a:rPr>
              <a:t>필요 정보만 확인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91999" y="120000"/>
            <a:ext cx="1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887"/>
                </a:solidFill>
                <a:latin typeface="Apple SD Gothic Neo"/>
              </a:rPr>
              <a:t>공개용 비식별화 개념도</a:t>
            </a:r>
          </a:p>
        </p:txBody>
      </p:sp>
    </p:spTree>
    <p:extLst>
      <p:ext uri="{BB962C8B-B14F-4D97-AF65-F5344CB8AC3E}">
        <ns4:creationId val="1257112958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7C0750CC-FC0F-48E5-99BE-8E02C15066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>
            <a:extLst>
              <a:ext uri="{FF2B5EF4-FFF2-40B4-BE49-F238E27FC236}">
                <ns2:creationId id="{05C76C61-43F9-472F-A30A-A4FF53FC3E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>
            <a:extLst>
              <a:ext uri="{FF2B5EF4-FFF2-40B4-BE49-F238E27FC236}">
                <ns2:creationId id="{15D1CCA0-C60B-4655-93E2-014EED0A2EA9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OS 이관 사전 검증 환경 구축과 자동화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03327FD3-E73D-4736-802B-15331DE45E25}"/>
              </a:ext>
            </a:extLst>
          </p:cNvPr>
          <p:cNvSpPr>
            <a:spLocks noGrp="1"/>
          </p:cNvSpPr>
          <p:nvPr/>
        </p:nvSpPr>
        <p:spPr>
          <a:xfrm>
            <a:off x="502920" y="1499616"/>
            <a:ext cx="11155680" cy="10972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>
            <a:extLst>
              <a:ext uri="{FF2B5EF4-FFF2-40B4-BE49-F238E27FC236}">
                <ns2:creationId id="{28BE7CA8-91C9-4CA6-9744-C4FEBF0E8F8F}"/>
              </a:ext>
            </a:extLst>
          </p:cNvPr>
          <p:cNvSpPr>
            <a:spLocks noGrp="1"/>
          </p:cNvSpPr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박지운 | 현대오토에버 Server Engineer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D431067E-2415-4ED9-A1A3-B293E0E40D56}"/>
              </a:ext>
            </a:extLst>
          </p:cNvPr>
          <p:cNvSpPr>
            <a:spLocks noGrp="1"/>
          </p:cNvSpPr>
          <p:nvPr/>
        </p:nvSpPr>
        <p:spPr>
          <a:xfrm>
            <a:off x="11100816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06</a:t>
            </a:r>
          </a:p>
        </p:txBody>
      </p:sp>
      <p:sp>
        <p:nvSpPr>
          <p:cNvPr id="9" name="TextBox 8">
            <a:extLst>
              <a:ext uri="{FF2B5EF4-FFF2-40B4-BE49-F238E27FC236}">
                <ns2:creationId id="{E61FFF4C-27AE-4208-BFD4-EBBDD2F08EE3}"/>
              </a:ext>
            </a:extLst>
          </p:cNvPr>
          <p:cNvSpPr>
            <a:spLocks noGrp="1"/>
          </p:cNvSpPr>
          <p:nvPr/>
        </p:nvSpPr>
        <p:spPr>
          <a:xfrm>
            <a:off x="502920" y="175564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2C3E50"/>
                </a:solidFill>
                <a:latin typeface="Apple SD Gothic Neo"/>
              </a:rPr>
              <a:t>내용</a:t>
            </a:r>
          </a:p>
        </p:txBody>
      </p:sp>
      <p:sp>
        <p:nvSpPr>
          <p:cNvPr id="10" name="TextBox 9">
            <a:extLst>
              <a:ext uri="{FF2B5EF4-FFF2-40B4-BE49-F238E27FC236}">
                <ns2:creationId id="{395E28D0-14B1-4D3B-9FEE-3322F914938D}"/>
              </a:ext>
            </a:extLst>
          </p:cNvPr>
          <p:cNvSpPr>
            <a:spLocks noGrp="1"/>
          </p:cNvSpPr>
          <p:nvPr/>
        </p:nvSpPr>
        <p:spPr>
          <a:xfrm>
            <a:off x="502920" y="212140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2C3E50"/>
                </a:solidFill>
                <a:latin typeface="Apple SD Gothic Neo"/>
              </a:rPr>
              <a:t>검증 환경 구성 및 자동화</a:t>
            </a:r>
          </a:p>
        </p:txBody>
      </p:sp>
      <p:sp>
        <p:nvSpPr>
          <p:cNvPr id="11" name="TextBox 10">
            <a:extLst>
              <a:ext uri="{FF2B5EF4-FFF2-40B4-BE49-F238E27FC236}">
                <ns2:creationId id="{20031B6A-0DC5-4C8D-924C-6A2D957850E8}"/>
              </a:ext>
            </a:extLst>
          </p:cNvPr>
          <p:cNvSpPr>
            <a:spLocks noGrp="1"/>
          </p:cNvSpPr>
          <p:nvPr/>
        </p:nvSpPr>
        <p:spPr>
          <a:xfrm>
            <a:off x="502920" y="272491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역할</a:t>
            </a:r>
          </a:p>
        </p:txBody>
      </p:sp>
      <p:sp>
        <p:nvSpPr>
          <p:cNvPr id="12" name="TextBox 11">
            <a:extLst>
              <a:ext uri="{FF2B5EF4-FFF2-40B4-BE49-F238E27FC236}">
                <ns2:creationId id="{788E331F-EA3E-4311-93B1-3CDB5BB86A82}"/>
              </a:ext>
            </a:extLst>
          </p:cNvPr>
          <p:cNvSpPr>
            <a:spLocks noGrp="1"/>
          </p:cNvSpPr>
          <p:nvPr/>
        </p:nvSpPr>
        <p:spPr>
          <a:xfrm>
            <a:off x="502920" y="3090672"/>
            <a:ext cx="51206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Terraform 인프라 구성과 Ansible 서버 설정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Slack 알림 구축, OS 교체 후 복원 검증</a:t>
            </a:r>
          </a:p>
        </p:txBody>
      </p:sp>
      <p:sp>
        <p:nvSpPr>
          <p:cNvPr id="13" name="TextBox 12">
            <a:extLst>
              <a:ext uri="{FF2B5EF4-FFF2-40B4-BE49-F238E27FC236}">
                <ns2:creationId id="{B3150CC9-F984-4012-958B-E01A440A0C65}"/>
              </a:ext>
            </a:extLst>
          </p:cNvPr>
          <p:cNvSpPr>
            <a:spLocks noGrp="1"/>
          </p:cNvSpPr>
          <p:nvPr/>
        </p:nvSpPr>
        <p:spPr>
          <a:xfrm>
            <a:off x="502920" y="409651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문제</a:t>
            </a:r>
          </a:p>
        </p:txBody>
      </p:sp>
      <p:sp>
        <p:nvSpPr>
          <p:cNvPr id="14" name="TextBox 13">
            <a:extLst>
              <a:ext uri="{FF2B5EF4-FFF2-40B4-BE49-F238E27FC236}">
                <ns2:creationId id="{EF7ECDC5-43A4-4F29-BFF2-7972CA4D3D73}"/>
              </a:ext>
            </a:extLst>
          </p:cNvPr>
          <p:cNvSpPr>
            <a:spLocks noGrp="1"/>
          </p:cNvSpPr>
          <p:nvPr/>
        </p:nvSpPr>
        <p:spPr>
          <a:xfrm>
            <a:off x="502920" y="4462272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OS 초기화, Docker 환경 설정, 솔루션 설치를 반복해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검증 환경을 준비하는 데 많은 시간이 들었습니다.</a:t>
            </a:r>
          </a:p>
        </p:txBody>
      </p:sp>
      <p:sp>
        <p:nvSpPr>
          <p:cNvPr id="15" name="TextBox 14">
            <a:extLst>
              <a:ext uri="{FF2B5EF4-FFF2-40B4-BE49-F238E27FC236}">
                <ns2:creationId id="{7C0A235A-B45A-40DC-890B-761858113978}"/>
              </a:ext>
            </a:extLst>
          </p:cNvPr>
          <p:cNvSpPr>
            <a:spLocks noGrp="1"/>
          </p:cNvSpPr>
          <p:nvPr/>
        </p:nvSpPr>
        <p:spPr>
          <a:xfrm>
            <a:off x="5989320" y="1755648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기존 수동 구성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1E87CD01-E15B-4973-A293-ECC666705F57}"/>
              </a:ext>
            </a:extLst>
          </p:cNvPr>
          <p:cNvSpPr>
            <a:spLocks noGrp="1"/>
          </p:cNvSpPr>
          <p:nvPr/>
        </p:nvSpPr>
        <p:spPr>
          <a:xfrm>
            <a:off x="5989320" y="2185416"/>
            <a:ext cx="5623560" cy="3364992"/>
          </a:xfrm>
          <a:prstGeom prst="rect">
            <a:avLst/>
          </a:prstGeom>
          <a:solidFill>
            <a:srgbClr val="F3F5F7"/>
          </a:solidFill>
          <a:ln w="825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Text 34"/>
          <p:cNvSpPr txBox="1"/>
          <p:nvPr/>
        </p:nvSpPr>
        <p:spPr>
          <a:xfrm>
            <a:off x="128016" y="0"/>
            <a:ext cx="12063984" cy="640080"/>
          </a:xfrm>
          <a:prstGeom prst="rect"/>
          <a:ln>
            <a:noFill/>
          </a:ln>
          <a:solidFill>
            <a:srgbClr val="1472C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02920" y="173736"/>
            <a:ext cx="8961120" cy="356616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프로젝트 02 | OS 검증 자동화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0049256" y="228600"/>
            <a:ext cx="1600200" cy="25603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개요 1/3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2377090"/>
            <a:ext cx="5577840" cy="2972501"/>
          </a:xfrm>
          <a:prstGeom prst="roundRect">
            <a:avLst/>
          </a:prstGeom>
          <a:solidFill>
            <a:srgbClr val="EEF3F8"/>
          </a:solidFill>
          <a:ln>
            <a:solidFill>
              <a:srgbClr val="5F7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bIns="152400"/>
          <a:lstStyle/>
          <a:p>
            <a:pPr algn="ctr"/>
            <a:r>
              <a:rPr sz="1600" b="1">
                <a:solidFill>
                  <a:srgbClr val="26425C"/>
                </a:solidFill>
                <a:latin typeface="Apple SD Gothic Neo"/>
              </a:rPr>
              <a:t>개념도: 수동 구성 흐름</a:t>
            </a:r>
          </a:p>
          <a:p>
            <a:pPr algn="ctr"/>
            <a:r>
              <a:rPr sz="1100">
                <a:solidFill>
                  <a:srgbClr val="4A5C6C"/>
                </a:solidFill>
                <a:latin typeface="Apple SD Gothic Neo"/>
              </a:rPr>
              <a:t>초기화 → 환경 설정 → 솔루션 설치
실제 콘솔 화면은 공개용에서 제외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91999" y="120000"/>
            <a:ext cx="1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887"/>
                </a:solidFill>
                <a:latin typeface="Apple SD Gothic Neo"/>
              </a:rPr>
              <a:t>공개용 비식별화 개념도</a:t>
            </a:r>
          </a:p>
        </p:txBody>
      </p:sp>
    </p:spTree>
    <p:extLst>
      <p:ext uri="{BB962C8B-B14F-4D97-AF65-F5344CB8AC3E}">
        <ns4:creationId val="1247628418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5292386-F81D-49AC-8EF8-8C3EE90A7A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>
            <a:extLst>
              <a:ext uri="{FF2B5EF4-FFF2-40B4-BE49-F238E27FC236}">
                <ns2:creationId id="{9C8E7017-9367-44B0-9DC2-3865173CC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>
            <a:extLst>
              <a:ext uri="{FF2B5EF4-FFF2-40B4-BE49-F238E27FC236}">
                <ns2:creationId id="{E4F52AEE-9DF4-47B1-A9A1-A11441900B3F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프로젝트 02 | OS 검증 자동화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2340B8C6-1B79-4BB2-BA73-61A03016F3D3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자동화 구성과 성과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4C3672D6-2F46-491B-AB1B-84D578BD4855}"/>
              </a:ext>
            </a:extLst>
          </p:cNvPr>
          <p:cNvSpPr>
            <a:spLocks noGrp="1"/>
          </p:cNvSpPr>
          <p:nvPr/>
        </p:nvSpPr>
        <p:spPr>
          <a:xfrm>
            <a:off x="502920" y="1499616"/>
            <a:ext cx="11155680" cy="10972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>
            <a:extLst>
              <a:ext uri="{FF2B5EF4-FFF2-40B4-BE49-F238E27FC236}">
                <ns2:creationId id="{07A943AA-CB2B-46C7-BC23-589B13B632CA}"/>
              </a:ext>
            </a:extLst>
          </p:cNvPr>
          <p:cNvSpPr>
            <a:spLocks noGrp="1"/>
          </p:cNvSpPr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박지운 | 현대오토에버 Server Engineer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2A9A12CB-AAA7-46D8-B623-72E0BBA9609E}"/>
              </a:ext>
            </a:extLst>
          </p:cNvPr>
          <p:cNvSpPr>
            <a:spLocks noGrp="1"/>
          </p:cNvSpPr>
          <p:nvPr/>
        </p:nvSpPr>
        <p:spPr>
          <a:xfrm>
            <a:off x="11100816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07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10049256" y="310896"/>
            <a:ext cx="1600200" cy="25603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자동화와 성과 2/3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02920" y="1783080"/>
            <a:ext cx="7086600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개선 후 자동화 구성도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02920" y="2176272"/>
            <a:ext cx="7086600" cy="3246120"/>
          </a:xfrm>
          <a:prstGeom prst="rect"/>
          <a:ln>
            <a:noFill/>
          </a:ln>
          <a:solidFill>
            <a:srgbClr val="F3F5F7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909560" y="1783080"/>
            <a:ext cx="3749040" cy="1691640"/>
          </a:xfrm>
          <a:prstGeom prst="rect"/>
          <a:ln>
            <a:noFill/>
          </a:ln>
          <a:solidFill>
            <a:srgbClr val="F1FAF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092440" y="1965960"/>
            <a:ext cx="3383280" cy="32004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8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1. 인프라 생성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092440" y="2450592"/>
            <a:ext cx="3383280" cy="77724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Terraform으로 EC2와 EBS 생성</a:t>
            </a:r>
          </a:p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운영 환경에 맞는 OS와 이미지 선택</a:t>
            </a:r>
          </a:p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OS용 EBS와 데이터용 EBS 분리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909560" y="3739896"/>
            <a:ext cx="3749040" cy="2194560"/>
          </a:xfrm>
          <a:prstGeom prst="rect"/>
          <a:ln>
            <a:noFill/>
          </a:ln>
          <a:solidFill>
            <a:srgbClr val="F1FAF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41" name="Text 41"/>
          <p:cNvSpPr txBox="1"/>
          <p:nvPr/>
        </p:nvSpPr>
        <p:spPr>
          <a:xfrm>
            <a:off x="8092440" y="3922776"/>
            <a:ext cx="3383280" cy="32004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8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2. 서버 구성과 복원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8092440" y="4407408"/>
            <a:ext cx="3383280" cy="116128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Ansible로 패키지와 솔루션 환경 구성</a:t>
            </a:r>
          </a:p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단계별 실행 결과와 기동 상태 확인</a:t>
            </a:r>
          </a:p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OS 교체 후 데이터 영역 다시 연결</a:t>
            </a:r>
          </a:p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같은 이미지와 설정으로 컨테이너 복원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02920" y="5522976"/>
            <a:ext cx="7086600" cy="292608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성과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502920" y="5888736"/>
            <a:ext cx="7086600" cy="53035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환경 생성과 서버 설정을 자동화해 반복 준비 작업을 줄였습니다.</a:t>
            </a:r>
          </a:p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OS 교체 후에도 기존 데이터로 컨테이너를 복원했습니다.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1264223" y="4785252"/>
            <a:ext cx="5476111" cy="357018"/>
          </a:xfrm>
          <a:prstGeom prst="rect"/>
          <a:ln>
            <a:noFill/>
          </a:ln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313657" y="4867641"/>
            <a:ext cx="5190496" cy="237744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2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인프라 생성과 서버 환경 구성, 복원 절차 자동화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2968" y="2176272"/>
            <a:ext cx="5926503" cy="3246120"/>
          </a:xfrm>
          <a:prstGeom prst="roundRect">
            <a:avLst/>
          </a:prstGeom>
          <a:solidFill>
            <a:srgbClr val="EEF3F8"/>
          </a:solidFill>
          <a:ln>
            <a:solidFill>
              <a:srgbClr val="5F7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bIns="152400"/>
          <a:lstStyle/>
          <a:p>
            <a:pPr algn="ctr"/>
            <a:r>
              <a:rPr sz="1600" b="1">
                <a:solidFill>
                  <a:srgbClr val="26425C"/>
                </a:solidFill>
                <a:latin typeface="Apple SD Gothic Neo"/>
              </a:rPr>
              <a:t>개념도: 자동화 구성</a:t>
            </a:r>
          </a:p>
          <a:p>
            <a:pPr algn="ctr"/>
            <a:r>
              <a:rPr sz="1100">
                <a:solidFill>
                  <a:srgbClr val="4A5C6C"/>
                </a:solidFill>
                <a:latin typeface="Apple SD Gothic Neo"/>
              </a:rPr>
              <a:t>인프라 생성 → 서버 구성 → 검증 및 복원
계정, URL, 자원 정보는 공개용에서 제외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91999" y="120000"/>
            <a:ext cx="1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887"/>
                </a:solidFill>
                <a:latin typeface="Apple SD Gothic Neo"/>
              </a:rPr>
              <a:t>공개용 비식별화 개념도</a:t>
            </a:r>
          </a:p>
        </p:txBody>
      </p:sp>
    </p:spTree>
    <p:extLst>
      <p:ext uri="{BB962C8B-B14F-4D97-AF65-F5344CB8AC3E}">
        <ns4:creationId val="247579153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66609171-428E-442C-BBCB-915B6C8E0C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>
            <a:extLst>
              <a:ext uri="{FF2B5EF4-FFF2-40B4-BE49-F238E27FC236}">
                <ns2:creationId id="{58A3DEE6-E61F-4DAA-8F23-C3F634AB7F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>
            <a:extLst>
              <a:ext uri="{FF2B5EF4-FFF2-40B4-BE49-F238E27FC236}">
                <ns2:creationId id="{D9E008E8-E227-492F-BDE7-A6052FEFA169}"/>
              </a:ext>
            </a:extLst>
          </p:cNvPr>
          <p:cNvSpPr>
            <a:spLocks noGrp="1"/>
          </p:cNvSpPr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프로젝트 02 | OS 검증 자동화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BE2D0EAF-E8FE-475A-B956-A05BCB214B25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알림 체계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B5F00F21-1791-4B79-B64F-7359490294BF}"/>
              </a:ext>
            </a:extLst>
          </p:cNvPr>
          <p:cNvSpPr>
            <a:spLocks noGrp="1"/>
          </p:cNvSpPr>
          <p:nvPr/>
        </p:nvSpPr>
        <p:spPr>
          <a:xfrm>
            <a:off x="502920" y="1499616"/>
            <a:ext cx="11155680" cy="10972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>
            <a:extLst>
              <a:ext uri="{FF2B5EF4-FFF2-40B4-BE49-F238E27FC236}">
                <ns2:creationId id="{4400B297-6504-454A-91D4-255E9F675971}"/>
              </a:ext>
            </a:extLst>
          </p:cNvPr>
          <p:cNvSpPr>
            <a:spLocks noGrp="1"/>
          </p:cNvSpPr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박지운 | 현대오토에버 Server Engineer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2947D993-42C0-4E89-8EA8-DFB1430A683C}"/>
              </a:ext>
            </a:extLst>
          </p:cNvPr>
          <p:cNvSpPr>
            <a:spLocks noGrp="1"/>
          </p:cNvSpPr>
          <p:nvPr/>
        </p:nvSpPr>
        <p:spPr>
          <a:xfrm>
            <a:off x="11100816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08</a:t>
            </a:r>
          </a:p>
        </p:txBody>
      </p:sp>
      <p:sp>
        <p:nvSpPr>
          <p:cNvPr id="9" name="TextBox 8">
            <a:extLst>
              <a:ext uri="{FF2B5EF4-FFF2-40B4-BE49-F238E27FC236}">
                <ns2:creationId id="{62375636-E6DC-4823-8D87-71C1E4171201}"/>
              </a:ext>
            </a:extLst>
          </p:cNvPr>
          <p:cNvSpPr>
            <a:spLocks noGrp="1"/>
          </p:cNvSpPr>
          <p:nvPr/>
        </p:nvSpPr>
        <p:spPr>
          <a:xfrm>
            <a:off x="502920" y="1773936"/>
            <a:ext cx="6629400" cy="30175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rPr>
              <a:t>알림 체계 구성도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E2E82464-C6A2-4693-85B5-602F844E513B}"/>
              </a:ext>
            </a:extLst>
          </p:cNvPr>
          <p:cNvSpPr>
            <a:spLocks noGrp="1"/>
          </p:cNvSpPr>
          <p:nvPr/>
        </p:nvSpPr>
        <p:spPr>
          <a:xfrm>
            <a:off x="502920" y="2185416"/>
            <a:ext cx="6629400" cy="3621024"/>
          </a:xfrm>
          <a:prstGeom prst="rect">
            <a:avLst/>
          </a:prstGeom>
          <a:solidFill>
            <a:srgbClr val="F3F5F7"/>
          </a:solidFill>
          <a:ln w="825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>
            <a:extLst>
              <a:ext uri="{FF2B5EF4-FFF2-40B4-BE49-F238E27FC236}">
                <ns2:creationId id="{F0456161-E267-4DB1-80F6-03EFC4958359}"/>
              </a:ext>
            </a:extLst>
          </p:cNvPr>
          <p:cNvSpPr>
            <a:spLocks noGrp="1"/>
          </p:cNvSpPr>
          <p:nvPr/>
        </p:nvSpPr>
        <p:spPr>
          <a:xfrm>
            <a:off x="7443216" y="1773936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서버 준비 완료</a:t>
            </a:r>
          </a:p>
        </p:txBody>
      </p:sp>
      <p:sp>
        <p:nvSpPr>
          <p:cNvPr id="12" name="TextBox 11">
            <a:extLst>
              <a:ext uri="{FF2B5EF4-FFF2-40B4-BE49-F238E27FC236}">
                <ns2:creationId id="{F2D9669C-DB28-4216-9957-CBE2F539B68E}"/>
              </a:ext>
            </a:extLst>
          </p:cNvPr>
          <p:cNvSpPr>
            <a:spLocks noGrp="1"/>
          </p:cNvSpPr>
          <p:nvPr/>
        </p:nvSpPr>
        <p:spPr>
          <a:xfrm>
            <a:off x="7443216" y="2139696"/>
            <a:ext cx="4160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EC2의 user_data에서 SSH 접속이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가능한 시점에 알림을 전송했습니다.</a:t>
            </a:r>
          </a:p>
        </p:txBody>
      </p:sp>
      <p:sp>
        <p:nvSpPr>
          <p:cNvPr id="13" name="TextBox 12">
            <a:extLst>
              <a:ext uri="{FF2B5EF4-FFF2-40B4-BE49-F238E27FC236}">
                <ns2:creationId id="{98720ED2-403A-4C85-9640-8DEE3BCF2AC2}"/>
              </a:ext>
            </a:extLst>
          </p:cNvPr>
          <p:cNvSpPr>
            <a:spLocks noGrp="1"/>
          </p:cNvSpPr>
          <p:nvPr/>
        </p:nvSpPr>
        <p:spPr>
          <a:xfrm>
            <a:off x="7443216" y="2953512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종료, 중지와 장시간 가동</a:t>
            </a:r>
          </a:p>
        </p:txBody>
      </p:sp>
      <p:sp>
        <p:nvSpPr>
          <p:cNvPr id="14" name="TextBox 13">
            <a:extLst>
              <a:ext uri="{FF2B5EF4-FFF2-40B4-BE49-F238E27FC236}">
                <ns2:creationId id="{07494205-AD80-45DF-8552-6A811610375F}"/>
              </a:ext>
            </a:extLst>
          </p:cNvPr>
          <p:cNvSpPr>
            <a:spLocks noGrp="1"/>
          </p:cNvSpPr>
          <p:nvPr/>
        </p:nvSpPr>
        <p:spPr>
          <a:xfrm>
            <a:off x="7443216" y="3319272"/>
            <a:ext cx="416052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EventBridge로 상태 변경을 감지하고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12시간마다 Lambda를 실행했습니다.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Lambda는 상태와 24시간 이상 가동 여부를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확인한 뒤 알림을 전송했습니다.</a:t>
            </a:r>
          </a:p>
        </p:txBody>
      </p:sp>
      <p:sp>
        <p:nvSpPr>
          <p:cNvPr id="15" name="TextBox 14">
            <a:extLst>
              <a:ext uri="{FF2B5EF4-FFF2-40B4-BE49-F238E27FC236}">
                <ns2:creationId id="{D64E3A24-C547-428E-8D4D-D8B6DF0DD71E}"/>
              </a:ext>
            </a:extLst>
          </p:cNvPr>
          <p:cNvSpPr>
            <a:spLocks noGrp="1"/>
          </p:cNvSpPr>
          <p:nvPr/>
        </p:nvSpPr>
        <p:spPr>
          <a:xfrm>
            <a:off x="7443216" y="4581144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단계별 완료 및 실패</a:t>
            </a:r>
          </a:p>
        </p:txBody>
      </p:sp>
      <p:sp>
        <p:nvSpPr>
          <p:cNvPr id="16" name="TextBox 15">
            <a:extLst>
              <a:ext uri="{FF2B5EF4-FFF2-40B4-BE49-F238E27FC236}">
                <ns2:creationId id="{65A51E4D-D405-4E56-8601-9E0E7BCC02C3}"/>
              </a:ext>
            </a:extLst>
          </p:cNvPr>
          <p:cNvSpPr>
            <a:spLocks noGrp="1"/>
          </p:cNvSpPr>
          <p:nvPr/>
        </p:nvSpPr>
        <p:spPr>
          <a:xfrm>
            <a:off x="7443216" y="4946904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Ansible 실행 결과를 Slack으로 전송했습니다.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10049256" y="310896"/>
            <a:ext cx="1600200" cy="25603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알림 체계 3/3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0298" y="2185416"/>
            <a:ext cx="6194644" cy="3621024"/>
          </a:xfrm>
          <a:prstGeom prst="roundRect">
            <a:avLst/>
          </a:prstGeom>
          <a:solidFill>
            <a:srgbClr val="EEF3F8"/>
          </a:solidFill>
          <a:ln>
            <a:solidFill>
              <a:srgbClr val="5F7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bIns="152400"/>
          <a:lstStyle/>
          <a:p>
            <a:pPr algn="ctr"/>
            <a:r>
              <a:rPr sz="1600" b="1">
                <a:solidFill>
                  <a:srgbClr val="26425C"/>
                </a:solidFill>
                <a:latin typeface="Apple SD Gothic Neo"/>
              </a:rPr>
              <a:t>개념도: 알림 흐름</a:t>
            </a:r>
          </a:p>
          <a:p>
            <a:pPr algn="ctr"/>
            <a:r>
              <a:rPr sz="1100">
                <a:solidFill>
                  <a:srgbClr val="4A5C6C"/>
                </a:solidFill>
                <a:latin typeface="Apple SD Gothic Neo"/>
              </a:rPr>
              <a:t>준비 완료 → 상태 감지 → 실행 결과 알림
실제 클라우드 화면은 공개용에서 제외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91999" y="120000"/>
            <a:ext cx="1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887"/>
                </a:solidFill>
                <a:latin typeface="Apple SD Gothic Neo"/>
              </a:rPr>
              <a:t>공개용 비식별화 개념도</a:t>
            </a:r>
          </a:p>
        </p:txBody>
      </p:sp>
    </p:spTree>
    <p:extLst>
      <p:ext uri="{BB962C8B-B14F-4D97-AF65-F5344CB8AC3E}">
        <ns4:creationId val="1434218531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FC03B052-804C-4C14-842F-351A76B9B4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>
            <a:extLst>
              <a:ext uri="{FF2B5EF4-FFF2-40B4-BE49-F238E27FC236}">
                <ns2:creationId id="{22268E69-97A0-4D9E-8600-994C3EEDB7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>
            <a:extLst>
              <a:ext uri="{FF2B5EF4-FFF2-40B4-BE49-F238E27FC236}">
                <ns2:creationId id="{6F6424FC-01AE-4EBC-9011-83CD9876750A}"/>
              </a:ext>
            </a:extLst>
          </p:cNvPr>
          <p:cNvSpPr>
            <a:spLocks noGrp="1"/>
          </p:cNvSpPr>
          <p:nvPr/>
        </p:nvSpPr>
        <p:spPr>
          <a:xfrm>
            <a:off x="502920" y="786384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테스트 결과 수집과 시각화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3FC90549-96B9-4308-9675-28EB7D907FDB}"/>
              </a:ext>
            </a:extLst>
          </p:cNvPr>
          <p:cNvSpPr>
            <a:spLocks noGrp="1"/>
          </p:cNvSpPr>
          <p:nvPr/>
        </p:nvSpPr>
        <p:spPr>
          <a:xfrm>
            <a:off x="502920" y="1499616"/>
            <a:ext cx="11155680" cy="10972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>
            <a:extLst>
              <a:ext uri="{FF2B5EF4-FFF2-40B4-BE49-F238E27FC236}">
                <ns2:creationId id="{C17164D4-D6FC-432C-8EB6-FB52CB8586FA}"/>
              </a:ext>
            </a:extLst>
          </p:cNvPr>
          <p:cNvSpPr>
            <a:spLocks noGrp="1"/>
          </p:cNvSpPr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박지운 | 현대오토에버 Server Engineer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DF160804-F78E-4B58-872D-189C56C8B768}"/>
              </a:ext>
            </a:extLst>
          </p:cNvPr>
          <p:cNvSpPr>
            <a:spLocks noGrp="1"/>
          </p:cNvSpPr>
          <p:nvPr/>
        </p:nvSpPr>
        <p:spPr>
          <a:xfrm>
            <a:off x="11100816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09</a:t>
            </a:r>
          </a:p>
        </p:txBody>
      </p:sp>
      <p:sp>
        <p:nvSpPr>
          <p:cNvPr id="9" name="TextBox 8">
            <a:extLst>
              <a:ext uri="{FF2B5EF4-FFF2-40B4-BE49-F238E27FC236}">
                <ns2:creationId id="{38137A04-A7C8-453B-8C10-700B3706D27C}"/>
              </a:ext>
            </a:extLst>
          </p:cNvPr>
          <p:cNvSpPr>
            <a:spLocks noGrp="1"/>
          </p:cNvSpPr>
          <p:nvPr/>
        </p:nvSpPr>
        <p:spPr>
          <a:xfrm>
            <a:off x="502920" y="175564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기간</a:t>
            </a:r>
          </a:p>
        </p:txBody>
      </p:sp>
      <p:sp>
        <p:nvSpPr>
          <p:cNvPr id="10" name="TextBox 9">
            <a:extLst>
              <a:ext uri="{FF2B5EF4-FFF2-40B4-BE49-F238E27FC236}">
                <ns2:creationId id="{5A55F61E-D8C1-4A74-89B3-290F6E0B2723}"/>
              </a:ext>
            </a:extLst>
          </p:cNvPr>
          <p:cNvSpPr>
            <a:spLocks noGrp="1"/>
          </p:cNvSpPr>
          <p:nvPr/>
        </p:nvSpPr>
        <p:spPr>
          <a:xfrm>
            <a:off x="1645920" y="1746504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2025.01 ~ 2025.06</a:t>
            </a:r>
          </a:p>
        </p:txBody>
      </p:sp>
      <p:sp>
        <p:nvSpPr>
          <p:cNvPr id="11" name="TextBox 10">
            <a:extLst>
              <a:ext uri="{FF2B5EF4-FFF2-40B4-BE49-F238E27FC236}">
                <ns2:creationId id="{63929F5A-3381-408E-B657-C5A54115E0A5}"/>
              </a:ext>
            </a:extLst>
          </p:cNvPr>
          <p:cNvSpPr>
            <a:spLocks noGrp="1"/>
          </p:cNvSpPr>
          <p:nvPr/>
        </p:nvSpPr>
        <p:spPr>
          <a:xfrm>
            <a:off x="502920" y="2322576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역할</a:t>
            </a:r>
          </a:p>
        </p:txBody>
      </p:sp>
      <p:sp>
        <p:nvSpPr>
          <p:cNvPr id="12" name="TextBox 11">
            <a:extLst>
              <a:ext uri="{FF2B5EF4-FFF2-40B4-BE49-F238E27FC236}">
                <ns2:creationId id="{AD144462-FF5B-4BD7-A4E7-25D0D68739AB}"/>
              </a:ext>
            </a:extLst>
          </p:cNvPr>
          <p:cNvSpPr>
            <a:spLocks noGrp="1"/>
          </p:cNvSpPr>
          <p:nvPr/>
        </p:nvSpPr>
        <p:spPr>
          <a:xfrm>
            <a:off x="1645920" y="2322576"/>
            <a:ext cx="409651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Python 에이전트, Spring Boot 수집 API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MySQL 연동과 Grafana 대시보드 구성</a:t>
            </a:r>
          </a:p>
        </p:txBody>
      </p:sp>
      <p:sp>
        <p:nvSpPr>
          <p:cNvPr id="13" name="TextBox 12">
            <a:extLst>
              <a:ext uri="{FF2B5EF4-FFF2-40B4-BE49-F238E27FC236}">
                <ns2:creationId id="{A6685A29-6721-41AA-B801-06BA5A39A404}"/>
              </a:ext>
            </a:extLst>
          </p:cNvPr>
          <p:cNvSpPr>
            <a:spLocks noGrp="1"/>
          </p:cNvSpPr>
          <p:nvPr/>
        </p:nvSpPr>
        <p:spPr>
          <a:xfrm>
            <a:off x="6300216" y="1755648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문제</a:t>
            </a:r>
          </a:p>
        </p:txBody>
      </p:sp>
      <p:sp>
        <p:nvSpPr>
          <p:cNvPr id="14" name="TextBox 13">
            <a:extLst>
              <a:ext uri="{FF2B5EF4-FFF2-40B4-BE49-F238E27FC236}">
                <ns2:creationId id="{D70F33DF-9651-440D-AD86-E920AE2C893A}"/>
              </a:ext>
            </a:extLst>
          </p:cNvPr>
          <p:cNvSpPr>
            <a:spLocks noGrp="1"/>
          </p:cNvSpPr>
          <p:nvPr/>
        </p:nvSpPr>
        <p:spPr>
          <a:xfrm>
            <a:off x="6300216" y="2121408"/>
            <a:ext cx="53492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노트북 5대의 Modbus 응답 로그를 각자 확인했습니다.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랩실 담당자는 사무실과 랩실을 오가야 했습니다.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로그가 많이 쌓여 정리와 파싱,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엑셀 시각화에도 시간이 걸렸습니다.</a:t>
            </a:r>
          </a:p>
        </p:txBody>
      </p:sp>
      <p:sp>
        <p:nvSpPr>
          <p:cNvPr id="15" name="TextBox 14">
            <a:extLst>
              <a:ext uri="{FF2B5EF4-FFF2-40B4-BE49-F238E27FC236}">
                <ns2:creationId id="{326EFBF6-B3BF-4FA8-8C49-4CC4B87AA0F6}"/>
              </a:ext>
            </a:extLst>
          </p:cNvPr>
          <p:cNvSpPr>
            <a:spLocks noGrp="1"/>
          </p:cNvSpPr>
          <p:nvPr/>
        </p:nvSpPr>
        <p:spPr>
          <a:xfrm>
            <a:off x="502920" y="3364992"/>
            <a:ext cx="5349240" cy="29794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2C3E50"/>
                </a:solidFill>
                <a:latin typeface="Apple SD Gothic Neo"/>
              </a:rPr>
              <a:t>사용 전  개별 확인과 수동 정리 필요</a:t>
            </a:r>
          </a:p>
        </p:txBody>
      </p:sp>
      <p:sp>
        <p:nvSpPr>
          <p:cNvPr id="16" name="TextBox 15">
            <a:extLst>
              <a:ext uri="{FF2B5EF4-FFF2-40B4-BE49-F238E27FC236}">
                <ns2:creationId id="{85789BD3-0E3B-4A15-8CCB-7F0328F40CB1}"/>
              </a:ext>
            </a:extLst>
          </p:cNvPr>
          <p:cNvSpPr>
            <a:spLocks noGrp="1"/>
          </p:cNvSpPr>
          <p:nvPr/>
        </p:nvSpPr>
        <p:spPr>
          <a:xfrm>
            <a:off x="6300216" y="3364992"/>
            <a:ext cx="5349240" cy="29794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rPr sz="1300">
                <a:solidFill>
                  <a:srgbClr val="2C3E50"/>
                </a:solidFill>
                <a:latin typeface="Apple SD Gothic Neo"/>
              </a:rPr>
              <a:t>사용 후  결과를 한 곳에서 확인</a:t>
            </a:r>
          </a:p>
        </p:txBody>
      </p:sp>
      <p:sp>
        <p:nvSpPr>
          <p:cNvPr id="17" name="TextBox 16">
            <a:extLst>
              <a:ext uri="{FF2B5EF4-FFF2-40B4-BE49-F238E27FC236}">
                <ns2:creationId id="{20CA52A4-CF8A-46A2-98A5-26788B2A0035}"/>
              </a:ext>
            </a:extLst>
          </p:cNvPr>
          <p:cNvSpPr>
            <a:spLocks noGrp="1"/>
          </p:cNvSpPr>
          <p:nvPr/>
        </p:nvSpPr>
        <p:spPr>
          <a:xfrm>
            <a:off x="502920" y="3730752"/>
            <a:ext cx="5349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기기를 직접 확인하고 로그를 정리한 뒤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엑셀로 결과를 시각화했습니다.</a:t>
            </a:r>
          </a:p>
        </p:txBody>
      </p:sp>
      <p:sp>
        <p:nvSpPr>
          <p:cNvPr id="18" name="TextBox 17">
            <a:extLst>
              <a:ext uri="{FF2B5EF4-FFF2-40B4-BE49-F238E27FC236}">
                <ns2:creationId id="{D07625E6-9AC2-44EE-B9C5-5EBEBD97AAD7}"/>
              </a:ext>
            </a:extLst>
          </p:cNvPr>
          <p:cNvSpPr>
            <a:spLocks noGrp="1"/>
          </p:cNvSpPr>
          <p:nvPr/>
        </p:nvSpPr>
        <p:spPr>
          <a:xfrm>
            <a:off x="6300216" y="3730752"/>
            <a:ext cx="5349240" cy="59588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사무실에서 Grafana로 결과를 확인하고,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rPr>
              <a:t>수동 로그 정리와 엑셀 시각화 작업이 줄었습니다.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385E812F-E22D-4160-9C52-08A18539EDC9}"/>
              </a:ext>
            </a:extLst>
          </p:cNvPr>
          <p:cNvSpPr>
            <a:spLocks noGrp="1"/>
          </p:cNvSpPr>
          <p:nvPr/>
        </p:nvSpPr>
        <p:spPr>
          <a:xfrm>
            <a:off x="502920" y="4352544"/>
            <a:ext cx="5349240" cy="1901952"/>
          </a:xfrm>
          <a:prstGeom prst="rect">
            <a:avLst/>
          </a:prstGeom>
          <a:solidFill>
            <a:srgbClr val="F3F5F7"/>
          </a:solidFill>
          <a:ln w="825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ectangle 19">
            <a:extLst>
              <a:ext uri="{FF2B5EF4-FFF2-40B4-BE49-F238E27FC236}">
                <ns2:creationId id="{F466E633-5072-47B1-B4B0-A6522B836F88}"/>
              </a:ext>
            </a:extLst>
          </p:cNvPr>
          <p:cNvSpPr>
            <a:spLocks noGrp="1"/>
          </p:cNvSpPr>
          <p:nvPr/>
        </p:nvSpPr>
        <p:spPr>
          <a:xfrm>
            <a:off x="6300216" y="4352544"/>
            <a:ext cx="5349240" cy="1901952"/>
          </a:xfrm>
          <a:prstGeom prst="rect">
            <a:avLst/>
          </a:prstGeom>
          <a:solidFill>
            <a:srgbClr val="F3F5F7"/>
          </a:solidFill>
          <a:ln w="8255">
            <a:solidFill>
              <a:srgbClr val="D9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Text 44"/>
          <p:cNvSpPr txBox="1"/>
          <p:nvPr/>
        </p:nvSpPr>
        <p:spPr>
          <a:xfrm>
            <a:off x="128016" y="0"/>
            <a:ext cx="12063984" cy="640080"/>
          </a:xfrm>
          <a:prstGeom prst="rect"/>
          <a:ln>
            <a:noFill/>
          </a:ln>
          <a:solidFill>
            <a:srgbClr val="1472CF"/>
          </a:solidFill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/>
            </a:r>
          </a:p>
        </p:txBody>
      </p:sp>
      <p:sp>
        <p:nvSpPr>
          <p:cNvPr id="45" name="Text 45"/>
          <p:cNvSpPr txBox="1"/>
          <p:nvPr/>
        </p:nvSpPr>
        <p:spPr>
          <a:xfrm>
            <a:off x="502920" y="173736"/>
            <a:ext cx="8961120" cy="356616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프로젝트 03 | 한국하니웰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0049256" y="228600"/>
            <a:ext cx="1600200" cy="256032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개요와 결과 1/1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67974" y="4370832"/>
            <a:ext cx="3819132" cy="1938528"/>
          </a:xfrm>
          <a:prstGeom prst="roundRect">
            <a:avLst/>
          </a:prstGeom>
          <a:solidFill>
            <a:srgbClr val="EEF3F8"/>
          </a:solidFill>
          <a:ln>
            <a:solidFill>
              <a:srgbClr val="5F7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bIns="152400"/>
          <a:lstStyle/>
          <a:p>
            <a:pPr algn="ctr"/>
            <a:r>
              <a:rPr sz="1600" b="1">
                <a:solidFill>
                  <a:srgbClr val="26425C"/>
                </a:solidFill>
                <a:latin typeface="Apple SD Gothic Neo"/>
              </a:rPr>
              <a:t>개념도: 로그 수집</a:t>
            </a:r>
          </a:p>
          <a:p>
            <a:pPr algn="ctr"/>
            <a:r>
              <a:rPr sz="1100">
                <a:solidFill>
                  <a:srgbClr val="4A5C6C"/>
                </a:solidFill>
                <a:latin typeface="Apple SD Gothic Neo"/>
              </a:rPr>
              <a:t>장비 로그를 수집하고 결과를 저장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65270" y="4370832"/>
            <a:ext cx="3819132" cy="1938528"/>
          </a:xfrm>
          <a:prstGeom prst="roundRect">
            <a:avLst/>
          </a:prstGeom>
          <a:solidFill>
            <a:srgbClr val="EEF3F8"/>
          </a:solidFill>
          <a:ln>
            <a:solidFill>
              <a:srgbClr val="5F7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52400" bIns="152400"/>
          <a:lstStyle/>
          <a:p>
            <a:pPr algn="ctr"/>
            <a:r>
              <a:rPr sz="1600" b="1">
                <a:solidFill>
                  <a:srgbClr val="26425C"/>
                </a:solidFill>
                <a:latin typeface="Apple SD Gothic Neo"/>
              </a:rPr>
              <a:t>개념도: 결과 조회</a:t>
            </a:r>
          </a:p>
          <a:p>
            <a:pPr algn="ctr"/>
            <a:r>
              <a:rPr sz="1100">
                <a:solidFill>
                  <a:srgbClr val="4A5C6C"/>
                </a:solidFill>
                <a:latin typeface="Apple SD Gothic Neo"/>
              </a:rPr>
              <a:t>대시보드에서 결과를 확인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1999" y="120000"/>
            <a:ext cx="1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887"/>
                </a:solidFill>
                <a:latin typeface="Apple SD Gothic Neo"/>
              </a:rPr>
              <a:t>공개용 비식별화 개념도</a:t>
            </a:r>
          </a:p>
        </p:txBody>
      </p:sp>
    </p:spTree>
    <p:extLst>
      <p:ext uri="{BB962C8B-B14F-4D97-AF65-F5344CB8AC3E}">
        <ns4:creationId val="731754106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9DD238E8-173A-47DE-8148-195E1FE037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>
            <a:extLst>
              <a:ext uri="{FF2B5EF4-FFF2-40B4-BE49-F238E27FC236}">
                <ns2:creationId id="{0EA48618-C578-4370-8B81-8552A79CB3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>
            <a:extLst>
              <a:ext uri="{FF2B5EF4-FFF2-40B4-BE49-F238E27FC236}">
                <ns2:creationId id="{CD40B09D-A686-40E0-B019-2864298601DE}"/>
              </a:ext>
            </a:extLst>
          </p:cNvPr>
          <p:cNvSpPr>
            <a:spLocks noGrp="1"/>
          </p:cNvSpPr>
          <p:nvPr/>
        </p:nvSpPr>
        <p:spPr>
          <a:xfrm>
            <a:off x="457200" y="29260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학력과 주요 활동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88EF90A8-50CA-4624-8B17-E5354747BED6}"/>
              </a:ext>
            </a:extLst>
          </p:cNvPr>
          <p:cNvSpPr>
            <a:spLocks noGrp="1"/>
          </p:cNvSpPr>
          <p:nvPr/>
        </p:nvSpPr>
        <p:spPr>
          <a:xfrm>
            <a:off x="457200" y="713232"/>
            <a:ext cx="111099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학력, 자격증, 수상 및 주요 활동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AE81A6A3-4704-42F9-9D18-6AE1646DCA43}"/>
              </a:ext>
            </a:extLst>
          </p:cNvPr>
          <p:cNvSpPr>
            <a:spLocks noGrp="1"/>
          </p:cNvSpPr>
          <p:nvPr/>
        </p:nvSpPr>
        <p:spPr>
          <a:xfrm>
            <a:off x="457200" y="1810512"/>
            <a:ext cx="11201400" cy="10972"/>
          </a:xfrm>
          <a:prstGeom prst="rect">
            <a:avLst/>
          </a:prstGeom>
          <a:solidFill>
            <a:srgbClr val="D9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>
            <a:extLst>
              <a:ext uri="{FF2B5EF4-FFF2-40B4-BE49-F238E27FC236}">
                <ns2:creationId id="{7E5ED886-4B19-4ACC-9EC7-9C6287D3F769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rgbClr val="526271"/>
                </a:solidFill>
                <a:latin typeface="Pretendard"/>
                <a:ea typeface="Pretendard"/>
                <a:cs typeface="Pretendard"/>
              </a:defRPr>
            </a:pPr>
            <a:r>
              <a:t>박지운 | 현대오토에버 Server Engineer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D1A18FA6-DDA5-4908-8F16-6CF81A4A4467}"/>
              </a:ext>
            </a:extLst>
          </p:cNvPr>
          <p:cNvSpPr>
            <a:spLocks noGrp="1"/>
          </p:cNvSpPr>
          <p:nvPr/>
        </p:nvSpPr>
        <p:spPr>
          <a:xfrm>
            <a:off x="11100816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472CF"/>
                </a:solidFill>
                <a:latin typeface="Pretendard"/>
                <a:ea typeface="Pretendard"/>
                <a:cs typeface="Pretendard"/>
              </a:defRPr>
            </a:pPr>
            <a: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CFDDE796-05D3-458E-AB89-1370B406B4DB}"/>
              </a:ext>
            </a:extLst>
          </p:cNvPr>
          <p:cNvSpPr>
            <a:spLocks noGrp="1"/>
          </p:cNvSpPr>
          <p:nvPr/>
        </p:nvSpPr>
        <p:spPr>
          <a:xfrm>
            <a:off x="502920" y="2039112"/>
            <a:ext cx="5376672" cy="1901952"/>
          </a:xfrm>
          <a:prstGeom prst="rect">
            <a:avLst/>
          </a:prstGeom>
          <a:solidFill>
            <a:srgbClr val="F1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Rectangle 9">
            <a:extLst>
              <a:ext uri="{FF2B5EF4-FFF2-40B4-BE49-F238E27FC236}">
                <ns2:creationId id="{F4FD7BA2-0292-4DCF-857B-5DF3181CE65C}"/>
              </a:ext>
            </a:extLst>
          </p:cNvPr>
          <p:cNvSpPr>
            <a:spLocks noGrp="1"/>
          </p:cNvSpPr>
          <p:nvPr/>
        </p:nvSpPr>
        <p:spPr>
          <a:xfrm>
            <a:off x="6163056" y="2039112"/>
            <a:ext cx="5486400" cy="1901952"/>
          </a:xfrm>
          <a:prstGeom prst="rect">
            <a:avLst/>
          </a:prstGeom>
          <a:solidFill>
            <a:srgbClr val="F1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>
            <a:extLst>
              <a:ext uri="{FF2B5EF4-FFF2-40B4-BE49-F238E27FC236}">
                <ns2:creationId id="{5429C2A9-6620-4C4E-B0B2-EBFAC3528302}"/>
              </a:ext>
            </a:extLst>
          </p:cNvPr>
          <p:cNvSpPr>
            <a:spLocks noGrp="1"/>
          </p:cNvSpPr>
          <p:nvPr/>
        </p:nvSpPr>
        <p:spPr>
          <a:xfrm>
            <a:off x="722376" y="22585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학력과 외국어</a:t>
            </a:r>
          </a:p>
        </p:txBody>
      </p:sp>
      <p:sp>
        <p:nvSpPr>
          <p:cNvPr id="12" name="TextBox 11">
            <a:extLst>
              <a:ext uri="{FF2B5EF4-FFF2-40B4-BE49-F238E27FC236}">
                <ns2:creationId id="{714A7D9D-7398-49BC-BC5E-35121DBBD02E}"/>
              </a:ext>
            </a:extLst>
          </p:cNvPr>
          <p:cNvSpPr>
            <a:spLocks noGrp="1"/>
          </p:cNvSpPr>
          <p:nvPr/>
        </p:nvSpPr>
        <p:spPr>
          <a:xfrm>
            <a:off x="722376" y="2743200"/>
            <a:ext cx="4937760" cy="1033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인하대학교 컴퓨터공학과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2018.03 ~ 2025.08 / 졸업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TOEIC Speaking 140점 / IH / 2025.03</a:t>
            </a:r>
          </a:p>
        </p:txBody>
      </p:sp>
      <p:sp>
        <p:nvSpPr>
          <p:cNvPr id="13" name="TextBox 12">
            <a:extLst>
              <a:ext uri="{FF2B5EF4-FFF2-40B4-BE49-F238E27FC236}">
                <ns2:creationId id="{A46D75EB-31A9-44E3-8BDF-ABEDA2702997}"/>
              </a:ext>
            </a:extLst>
          </p:cNvPr>
          <p:cNvSpPr>
            <a:spLocks noGrp="1"/>
          </p:cNvSpPr>
          <p:nvPr/>
        </p:nvSpPr>
        <p:spPr>
          <a:xfrm>
            <a:off x="6382512" y="22585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자격증</a:t>
            </a:r>
          </a:p>
        </p:txBody>
      </p:sp>
      <p:sp>
        <p:nvSpPr>
          <p:cNvPr id="14" name="TextBox 13">
            <a:extLst>
              <a:ext uri="{FF2B5EF4-FFF2-40B4-BE49-F238E27FC236}">
                <ns2:creationId id="{B7B0950F-00E0-44E2-8BEF-0AA778654BBD}"/>
              </a:ext>
            </a:extLst>
          </p:cNvPr>
          <p:cNvSpPr>
            <a:spLocks noGrp="1"/>
          </p:cNvSpPr>
          <p:nvPr/>
        </p:nvSpPr>
        <p:spPr>
          <a:xfrm>
            <a:off x="6382512" y="2743200"/>
            <a:ext cx="502920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AWS Solutions Architect - Associate / 2026.02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네트워크관리사 2급 / 2025.06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리눅스마스터 1급 / 2025.05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정보처리기사, SQLD / 2024.09</a:t>
            </a:r>
          </a:p>
        </p:txBody>
      </p:sp>
      <p:sp>
        <p:nvSpPr>
          <p:cNvPr id="15" name="TextBox 14">
            <a:extLst>
              <a:ext uri="{FF2B5EF4-FFF2-40B4-BE49-F238E27FC236}">
                <ns2:creationId id="{54CEC7B4-1DBF-43B9-86E4-FEFE390FA298}"/>
              </a:ext>
            </a:extLst>
          </p:cNvPr>
          <p:cNvSpPr>
            <a:spLocks noGrp="1"/>
          </p:cNvSpPr>
          <p:nvPr/>
        </p:nvSpPr>
        <p:spPr>
          <a:xfrm>
            <a:off x="502920" y="429768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수상</a:t>
            </a:r>
          </a:p>
        </p:txBody>
      </p:sp>
      <p:sp>
        <p:nvSpPr>
          <p:cNvPr id="17" name="TextBox 16">
            <a:extLst>
              <a:ext uri="{FF2B5EF4-FFF2-40B4-BE49-F238E27FC236}">
                <ns2:creationId id="{3DF41DAB-25BB-4E45-AFE1-F4F2ADDB6E4F}"/>
              </a:ext>
            </a:extLst>
          </p:cNvPr>
          <p:cNvSpPr>
            <a:spLocks noGrp="1"/>
          </p:cNvSpPr>
          <p:nvPr/>
        </p:nvSpPr>
        <p:spPr>
          <a:xfrm>
            <a:off x="6163056" y="42976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주요 활동</a:t>
            </a:r>
          </a:p>
        </p:txBody>
      </p:sp>
      <p:sp>
        <p:nvSpPr>
          <p:cNvPr id="18" name="TextBox 17">
            <a:extLst>
              <a:ext uri="{FF2B5EF4-FFF2-40B4-BE49-F238E27FC236}">
                <ns2:creationId id="{4720E205-72FB-439E-BBC6-2539D5AE7E64}"/>
              </a:ext>
            </a:extLst>
          </p:cNvPr>
          <p:cNvSpPr>
            <a:spLocks noGrp="1"/>
          </p:cNvSpPr>
          <p:nvPr/>
        </p:nvSpPr>
        <p:spPr>
          <a:xfrm>
            <a:off x="6163056" y="4773168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인하대학교 응원단 / 2018.03 ~ 2025.02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밴드부 팀 리더, 공연 기획과 일정 및 역할 조율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대학 개발 연합 동아리 UMC / 2022.08 ~ 2024.02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Spring 파트장, 팀별 코드 리뷰와 학습 워크북 개선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02920" y="4773168"/>
            <a:ext cx="5349240" cy="1005840"/>
          </a:xfrm>
          <a:prstGeom prst="rect"/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산업통상자원부장관상 / 창의적 종합설계 경진대회 / 2024.11</a:t>
            </a:r>
          </a:p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우수발표논문상 / 공학교육학술대회 / 2024.09</a:t>
            </a:r>
          </a:p>
          <a:p>
            <a:pPr>
              <a:lnSpc>
                <a:spcPct val="115000"/>
              </a:lnSpc>
              <a:buNone/>
              <a:defRPr sz="1600" b="0">
                <a:solidFill>
                  <a:srgbClr val="002C5F"/>
                </a:solidFill>
                <a:latin typeface="Pretendard"/>
                <a:ea typeface="Pretendard"/>
                <a:cs typeface="Pretendard"/>
              </a:defRPr>
            </a:pPr>
            <a:r>
              <a:t>공과대학장상 / 인하 종합설계 경진대회 / 2024.09</a:t>
            </a:r>
          </a:p>
        </p:txBody>
      </p:sp>
    </p:spTree>
    <p:extLst>
      <p:ext uri="{BB962C8B-B14F-4D97-AF65-F5344CB8AC3E}">
        <ns3:creationId val="13852795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10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박지운 포트폴리오 공개용</dc:title>
  <dcterms:created xsi:type="dcterms:W3CDTF">2026-10-01T09:25:41.8750000Z</dcterms:created>
  <dcterms:modified xsi:type="dcterms:W3CDTF">2026-10-01T09:25:41.8760000Z</dcterms:modified>
  <dc:subject>공개용 비식별화 포트폴리오</dc:subject>
  <dc:description>Internal screenshots and identifying operational details removed.</dc:description>
</coreProperties>
</file>